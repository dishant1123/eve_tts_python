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64008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6920" y="6400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213848" y="64008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13848" y="6400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780776" y="64008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0776" y="6400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46920" y="114300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0" y="11430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213848" y="114300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3848" y="11430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780776" y="114300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0776" y="11430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46920" y="164592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16459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213848" y="164592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16459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80776" y="1645920"/>
            <a:ext cx="566928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0776" y="164592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46920" y="640080"/>
            <a:ext cx="1700784" cy="150876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13848" y="1143000"/>
            <a:ext cx="566928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ML CONCEPT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&amp; Matrices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that let machine learning turn real-world data into math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4663440"/>
            <a:ext cx="731520" cy="54864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554480" y="4663440"/>
            <a:ext cx="731520" cy="54864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286000" y="4663440"/>
            <a:ext cx="731520" cy="54864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2960" y="4663440"/>
            <a:ext cx="2194560" cy="54864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230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    Study Hrs      Attendance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773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student, written as a vector 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 · VECTORS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Vector?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is a collection of numbers arranged in a single direction — a row or a column. In machine learning, one observation (one record, one data point) is almost always represented as a feature vector.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94960" cy="1234440"/>
          </a:xfrm>
          <a:prstGeom prst="rect">
            <a:avLst>
              <a:gd name="adj" fmla="val 5926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46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[ 10, 20, 30 ]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with 3 values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257800" cy="4709160"/>
          </a:xfrm>
          <a:prstGeom prst="rect">
            <a:avLst>
              <a:gd name="adj" fmla="val 1165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One Student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208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235440" y="228600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288036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3474720"/>
            <a:ext cx="21031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69480" y="4069080"/>
            <a:ext cx="777240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069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4069080"/>
            <a:ext cx="777240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69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23960" y="4069080"/>
            <a:ext cx="777240" cy="50292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4069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69480" y="4069080"/>
            <a:ext cx="2331720" cy="5029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754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[21, 5, 85]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 · VECTORS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Show Up Everywhere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record with multiple numeric features becomes a feature vector.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4023360"/>
          </a:xfrm>
          <a:prstGeom prst="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063240"/>
            <a:ext cx="2880360" cy="54864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886200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13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270248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970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Hrs: 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654296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5811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85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2880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[21, 5, 85]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1965960"/>
            <a:ext cx="3520440" cy="4023360"/>
          </a:xfrm>
          <a:prstGeom prst="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063240"/>
            <a:ext cx="2880360" cy="54864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886200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813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1200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09160" y="4270248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1970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Bedrooms: 3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09160" y="4654296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45811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Bathrooms: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09160" y="5394960"/>
            <a:ext cx="2880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[1200, 3, 2]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29600" y="1965960"/>
            <a:ext cx="3520440" cy="4023360"/>
          </a:xfrm>
          <a:prstGeom prst="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496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8549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8972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54964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0976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469880" y="3063240"/>
            <a:ext cx="96012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69880" y="30632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3063240"/>
            <a:ext cx="2880360" cy="54864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49640" y="3886200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3" name="Text 51"/>
          <p:cNvSpPr/>
          <p:nvPr/>
        </p:nvSpPr>
        <p:spPr>
          <a:xfrm>
            <a:off x="8778240" y="3813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25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549640" y="4270248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5" name="Text 53"/>
          <p:cNvSpPr/>
          <p:nvPr/>
        </p:nvSpPr>
        <p:spPr>
          <a:xfrm>
            <a:off x="8778240" y="419709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45000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549640" y="4654296"/>
            <a:ext cx="146304" cy="14630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7" name="Text 55"/>
          <p:cNvSpPr/>
          <p:nvPr/>
        </p:nvSpPr>
        <p:spPr>
          <a:xfrm>
            <a:off x="8778240" y="45811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Purchases: 8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549640" y="5394960"/>
            <a:ext cx="28803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[25, 45000, 8]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 · MATRICES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Matrix?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collection of numbers arranged in rows and columns. Its size is described as rows × columns.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with </a:t>
            </a:r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and 3 columns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 as a </a:t>
            </a:r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 matrix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212080" cy="1737360"/>
          </a:xfrm>
          <a:prstGeom prst="rect">
            <a:avLst>
              <a:gd name="adj" fmla="val 3158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let a whole dataset — many rows, many features — be handled as a single mathematical object, so models can process it efficiently.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10312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21040" y="210312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0" y="210312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0" y="297180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971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321040" y="297180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971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0" y="2971800"/>
            <a:ext cx="1005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9718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0" y="2103120"/>
            <a:ext cx="3017520" cy="173736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1520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5029200"/>
            <a:ext cx="3017520" cy="594360"/>
          </a:xfrm>
          <a:prstGeom prst="rect">
            <a:avLst>
              <a:gd name="adj" fmla="val 9231"/>
            </a:avLst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Dimension: 2 × 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 · MATRICES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Rows &amp; Columns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3 × 3 matrix, viewed by row and then by column.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24688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24688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1546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31546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08960" y="31546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8404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57400" y="38404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8960" y="38404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2468880"/>
            <a:ext cx="3154680" cy="205740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17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→ 10, 20, 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983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reads across — one full observation.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2011680"/>
            <a:ext cx="0" cy="3931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31520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0" y="24688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6760" y="24688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18320" y="24688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2468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15200" y="31546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66760" y="31546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418320" y="31546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0" y="31546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15200" y="3840480"/>
            <a:ext cx="1051560" cy="68580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66760" y="38404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418320" y="3840480"/>
            <a:ext cx="1051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8404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15200" y="2468880"/>
            <a:ext cx="3154680" cy="205740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4617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 → 10, 40, 70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15200" y="4983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reads down — one feature across all rows.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 · MATRICES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Table to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ID column, keep the numbers — rows become students, columns become features.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297680" cy="2011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257800" y="320040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498348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names,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numbers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95160" y="2148840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2148840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15400" y="2148840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1540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9516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5528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91540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1540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9516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5528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91540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1540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995160" y="2148840"/>
            <a:ext cx="2880360" cy="1975104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640080" y="4709160"/>
            <a:ext cx="10881360" cy="1463040"/>
          </a:xfrm>
          <a:prstGeom prst="rect">
            <a:avLst>
              <a:gd name="adj" fmla="val 375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55448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students (observations)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040880" y="4892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features (Age, Study Hrs, Attendance)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4400" y="5458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X.shape → (3, 3)  —  3 observations, 3 features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vs.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21208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2651760"/>
            <a:ext cx="7772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651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2651760"/>
            <a:ext cx="7772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651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0440" y="2651760"/>
            <a:ext cx="7772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517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965960" y="2651760"/>
            <a:ext cx="2331720" cy="5029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547872"/>
            <a:ext cx="128016" cy="1280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— a single list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5840" y="4050792"/>
            <a:ext cx="128016" cy="1280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observation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05840" y="4553712"/>
            <a:ext cx="128016" cy="1280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feature vector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05840" y="5056632"/>
            <a:ext cx="128016" cy="12801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[10, 20, 30]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737360"/>
            <a:ext cx="5212080" cy="420624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737360"/>
            <a:ext cx="5212080" cy="6400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737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09560" y="2651760"/>
            <a:ext cx="6858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651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95360" y="2651760"/>
            <a:ext cx="6858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651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09560" y="3154680"/>
            <a:ext cx="6858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95360" y="3154680"/>
            <a:ext cx="6858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909560" y="2651760"/>
            <a:ext cx="1371600" cy="100584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3913632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— rows and columns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675120" y="4416552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many observations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675120" y="4919472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feature / input matrix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675120" y="5422392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[[10,20],[30,40]]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Addition &amp; Subtraction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matrices combine element-by-element — but only when their dimensions match.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Addition:  A + 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196596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256032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74520" y="256032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196596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246120" y="196596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31920" y="196596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256032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31920" y="256032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46120" y="196596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212080" y="196596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897880" y="196596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9659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12080" y="256032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256032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560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212080" y="196596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Subtraction:  A − B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188720" y="374904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874520" y="374904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88720" y="434340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874520" y="434340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7452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188720" y="374904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974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931920" y="374904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246120" y="434340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31920" y="4343400"/>
            <a:ext cx="685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246120" y="374904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5212080" y="374904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5897880" y="374904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37490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212080" y="434340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5897880" y="4343400"/>
            <a:ext cx="685800" cy="59436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97880" y="43434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5212080" y="3749040"/>
            <a:ext cx="1371600" cy="11887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623560"/>
            <a:ext cx="11064240" cy="685800"/>
          </a:xfrm>
          <a:prstGeom prst="rect">
            <a:avLst>
              <a:gd name="adj" fmla="val 8000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matrices must have the same dimensions to add or subtract — combine cell-by-cell, position for position.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Multiplication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can be multiplied by a single number — every value scales by the same amount.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274320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274320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77440" y="352044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352044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77440" y="2743200"/>
            <a:ext cx="1828800" cy="155448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3154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4068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080760" y="2743200"/>
            <a:ext cx="914400" cy="77724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95160" y="2743200"/>
            <a:ext cx="914400" cy="77724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7432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80760" y="3520440"/>
            <a:ext cx="914400" cy="77724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95160" y="3520440"/>
            <a:ext cx="914400" cy="77724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520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080760" y="2743200"/>
            <a:ext cx="1828800" cy="155448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63040" y="4754880"/>
            <a:ext cx="9235440" cy="1051560"/>
          </a:xfrm>
          <a:prstGeom prst="rect">
            <a:avLst>
              <a:gd name="adj" fmla="val 5217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7548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entry is multiplied by the same scalar: 1×2=2,  2×2=4,  3×2=6,  4×2=8.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Multiplication — the Basic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element-by-element: multiply matching entries, then add the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2148840"/>
            <a:ext cx="868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2148840"/>
            <a:ext cx="868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0160" y="2148840"/>
            <a:ext cx="1737360" cy="64008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03320" y="2148840"/>
            <a:ext cx="868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88920"/>
            <a:ext cx="868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7889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03320" y="2148840"/>
            <a:ext cx="868680" cy="128016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257800" y="2148840"/>
            <a:ext cx="868680" cy="640080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257800" y="2148840"/>
            <a:ext cx="868680" cy="64008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97280" y="3794760"/>
            <a:ext cx="9966960" cy="1737360"/>
          </a:xfrm>
          <a:prstGeom prst="rect">
            <a:avLst>
              <a:gd name="adj" fmla="val 3158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3891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× 3) + (2 × 4)</a:t>
            </a:r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3 + 8  =  </a:t>
            </a:r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493776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pair of matching entries, then sum the products — the foundation of computation in neural networks.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Behind Every ML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prediction a model makes reduces to one matrix operation: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2057400"/>
            <a:ext cx="6858000" cy="1005840"/>
          </a:xfrm>
          <a:prstGeom prst="rect">
            <a:avLst>
              <a:gd name="adj" fmla="val 7273"/>
            </a:avLst>
          </a:prstGeom>
          <a:solidFill>
            <a:srgbClr val="27336B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2057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X · W  +  b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06040" cy="2468880"/>
          </a:xfrm>
          <a:prstGeom prst="rect">
            <a:avLst>
              <a:gd name="adj" fmla="val 2963"/>
            </a:avLst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11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matrix — your dataset's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429000"/>
            <a:ext cx="2606040" cy="2468880"/>
          </a:xfrm>
          <a:prstGeom prst="rect">
            <a:avLst>
              <a:gd name="adj" fmla="val 2963"/>
            </a:avLst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611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20440" y="4480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— what the model has learned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429000"/>
            <a:ext cx="2606040" cy="2468880"/>
          </a:xfrm>
          <a:prstGeom prst="rect">
            <a:avLst>
              <a:gd name="adj" fmla="val 2963"/>
            </a:avLst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611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63640" y="4480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a learned offset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0" y="3429000"/>
            <a:ext cx="2606040" cy="2468880"/>
          </a:xfrm>
          <a:prstGeom prst="rect">
            <a:avLst>
              <a:gd name="adj" fmla="val 2963"/>
            </a:avLst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3611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06840" y="4480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the model's prediction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Whether a Student Passes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students, three features each — the dataset becomes an input matrix.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663440" cy="2011680"/>
        </p:xfrm>
        <a:graphic>
          <a:graphicData uri="http://schemas.openxmlformats.org/drawingml/2006/table">
            <a:tbl>
              <a:tblPr/>
              <a:tblGrid>
                <a:gridCol w="1165860"/>
                <a:gridCol w="1165860"/>
                <a:gridCol w="1165860"/>
                <a:gridCol w="11658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148840"/>
            <a:ext cx="960120" cy="658368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01000" y="2148840"/>
            <a:ext cx="960120" cy="658368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961120" y="2148840"/>
            <a:ext cx="960120" cy="658368"/>
          </a:xfrm>
          <a:prstGeom prst="rect">
            <a:avLst/>
          </a:prstGeom>
          <a:solidFill>
            <a:srgbClr val="F2A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0" y="214884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4088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61120" y="2807208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0" y="28072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04088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0100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61120" y="3465576"/>
            <a:ext cx="960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61120" y="346557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040880" y="2148840"/>
            <a:ext cx="2880360" cy="1975104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28620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040880" y="4233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 = Student A's feature vector: [5, 85, 8]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4709160"/>
            <a:ext cx="10881360" cy="1508760"/>
          </a:xfrm>
          <a:prstGeom prst="rect">
            <a:avLst>
              <a:gd name="adj" fmla="val 3636"/>
            </a:avLst>
          </a:prstGeom>
          <a:solidFill>
            <a:srgbClr val="F7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709160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reads each row as one student's vector, multiplies the whole matrix by learned weights, and outputs a pass/fail prediction for every student at once — this is why ML frameworks are built around matrix math rather than looping row by row.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457200" cy="41148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457200" cy="41148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640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457200" cy="41148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051560"/>
            <a:ext cx="457200" cy="411480"/>
          </a:xfrm>
          <a:prstGeom prst="rect">
            <a:avLst/>
          </a:prstGeom>
          <a:solidFill>
            <a:srgbClr val="27336B"/>
          </a:solidFill>
          <a:ln w="12700">
            <a:solidFill>
              <a:srgbClr val="3B4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640080"/>
            <a:ext cx="914400" cy="82296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vector holds </a:t>
            </a:r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observation.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matrix holds 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arranged as rows and columns.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converts real datasets into matrices so operations like addition, scaling, and multiplication can run efficiently across every row at once — the same math that powers predictions in every neural network.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640080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440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5440680"/>
            <a:ext cx="640080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440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03120" y="5440680"/>
            <a:ext cx="640080" cy="502920"/>
          </a:xfrm>
          <a:prstGeom prst="rect">
            <a:avLst/>
          </a:prstGeom>
          <a:solidFill>
            <a:srgbClr val="27336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5440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5440680"/>
            <a:ext cx="1920240" cy="502920"/>
          </a:xfrm>
          <a:prstGeom prst="rect">
            <a:avLst/>
          </a:prstGeom>
          <a:ln w="285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5440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X · W + 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2026-09-08T09:24:19Z</dcterms:created>
  <dcterms:modified xsi:type="dcterms:W3CDTF">2026-09-08T09:24:19Z</dcterms:modified>
</cp:coreProperties>
</file>