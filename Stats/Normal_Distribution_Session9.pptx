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ell_plain_d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6949440" y="1828800"/>
            <a:ext cx="5760720" cy="3931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40080" y="10515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A357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· SESSION 9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Distribution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bell curve, its properties, and why it powers modern statistics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2801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800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4773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184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377440" y="5157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+ Demo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68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377440" y="5541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curve intuition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476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47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Normal Distribution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500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concept and where it comes from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94767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947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Curve Shape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3500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signature symmetric curve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36499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3649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Median = Mode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673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three measures coincide at the center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36499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36499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Deviation's Role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7673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spread shapes the curve's width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8231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823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68-95-99.7 Rule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184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probability from spread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074920" cy="1207008"/>
          </a:xfrm>
          <a:prstGeom prst="roundRect">
            <a:avLst>
              <a:gd name="adj" fmla="val 6818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782312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7823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&amp; Why It's Used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5184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hands-on graph demo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Normal Distribution?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distribution is a probability pattern where most values cluster around a central average, and the frequency tapers off symmetrically the farther a value is from that center.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027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halves mirror each other around the mean.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17880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3525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numeric data that can take any value in a range.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9286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8097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shape follows one exact mathematical formula.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60020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4F6FC"/>
          </a:solidFill>
          <a:ln/>
        </p:spPr>
      </p:sp>
      <p:pic>
        <p:nvPicPr>
          <p:cNvPr id="15" name="Image 0" descr="bell_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74520"/>
            <a:ext cx="5120640" cy="34747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355080" y="5394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 “Gaussian distribution,” after mathematician Carl Friedrich Gauss.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SHAPE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Bell Curve Shape</a:t>
            </a:r>
            <a:endParaRPr lang="en-US" sz="3200" dirty="0"/>
          </a:p>
        </p:txBody>
      </p:sp>
      <p:pic>
        <p:nvPicPr>
          <p:cNvPr id="4" name="Image 0" descr="bell_plai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60350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828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3572"/>
          </a:solidFill>
          <a:ln/>
        </p:spPr>
      </p:sp>
      <p:sp>
        <p:nvSpPr>
          <p:cNvPr id="6" name="Shape 3"/>
          <p:cNvSpPr/>
          <p:nvPr/>
        </p:nvSpPr>
        <p:spPr>
          <a:xfrm>
            <a:off x="6903720" y="19659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60920" y="1773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smoothly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2093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low values on either tail toward the middle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28163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3572"/>
          </a:solidFill>
          <a:ln/>
        </p:spPr>
      </p:sp>
      <p:sp>
        <p:nvSpPr>
          <p:cNvPr id="10" name="Shape 7"/>
          <p:cNvSpPr/>
          <p:nvPr/>
        </p:nvSpPr>
        <p:spPr>
          <a:xfrm>
            <a:off x="6903720" y="295351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60920" y="27614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the center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081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mean, median, and mode sit together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38039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3572"/>
          </a:solidFill>
          <a:ln/>
        </p:spPr>
      </p:sp>
      <p:sp>
        <p:nvSpPr>
          <p:cNvPr id="14" name="Shape 11"/>
          <p:cNvSpPr/>
          <p:nvPr/>
        </p:nvSpPr>
        <p:spPr>
          <a:xfrm>
            <a:off x="6903720" y="394106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6092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away symmetrically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the rise on the opposite side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4791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A3572"/>
          </a:solidFill>
          <a:ln/>
        </p:spPr>
      </p:sp>
      <p:sp>
        <p:nvSpPr>
          <p:cNvPr id="18" name="Shape 15"/>
          <p:cNvSpPr/>
          <p:nvPr/>
        </p:nvSpPr>
        <p:spPr>
          <a:xfrm>
            <a:off x="6903720" y="49286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60920" y="4736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 zero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5056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tails extend infinitely, just get thinner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CENTRAL TENDENCY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= Median = Mode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F4F6FC"/>
          </a:solidFill>
          <a:ln/>
        </p:spPr>
      </p:sp>
      <p:pic>
        <p:nvPicPr>
          <p:cNvPr id="5" name="Image 0" descr="bell_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029200" cy="3429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5440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measures land on the exact same point at the peak.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37960" y="187452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12280" y="20025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3591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average of all data points.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37960" y="310896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3236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3593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middle value when data is sorted.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37960" y="434340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812280" y="44714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4828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occurs most frequently.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5623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overlap only holds for perfectly symmetric distributions like the normal curve — it breaks down in skewed data.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Standard Deviation</a:t>
            </a:r>
            <a:endParaRPr lang="en-US" sz="3200" dirty="0"/>
          </a:p>
        </p:txBody>
      </p:sp>
      <p:pic>
        <p:nvPicPr>
          <p:cNvPr id="4" name="Image 0" descr="bell_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783080"/>
            <a:ext cx="667512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288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(σ) measures how spread out the values are around the mean (μ). It's the ruler that gives the bell curve its width.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" y="3703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σ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8736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Tall, narrow curve — values tightly clustered near the mean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493776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σ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3218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wide curve — values spread far from the mean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EMPIRICAL RULE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68-95-99.7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17520" y="1600200"/>
            <a:ext cx="8549640" cy="4434840"/>
          </a:xfrm>
          <a:prstGeom prst="roundRect">
            <a:avLst>
              <a:gd name="adj" fmla="val 1649"/>
            </a:avLst>
          </a:prstGeom>
          <a:solidFill>
            <a:srgbClr val="F4F6FC"/>
          </a:solidFill>
          <a:ln/>
        </p:spPr>
      </p:sp>
      <p:pic>
        <p:nvPicPr>
          <p:cNvPr id="5" name="Image 0" descr="bell_6895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783080"/>
            <a:ext cx="800100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88720" y="1911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3500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 within 1 standard deviation of the mean (μ ± 1σ)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8FA9D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32826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7216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 within 2 standard deviations (μ ± 2σ)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CE6F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4654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509320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falls within 3 standard deviations (μ ± 3σ)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APPLICATIONS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Height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heights within a population cluster tightly around an average.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98848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4727448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2744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test results across large groups of students.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57616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86216" y="2011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8621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86216" y="2651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Error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586216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random errors in scientific or industrial measurements.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69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across a large, healthy population.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98848" y="38404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27448" y="4069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27448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Scores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727448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test results are deliberately scaled to be normal.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57616" y="38404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586216" y="4069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86216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586216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Tolerances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586216" y="5029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variation in machine-produced part dimensions.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SIGNIFICANCE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Used in Statistics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84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Limit Theorem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0487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of large samples tend toward a normal shape, regardless of the original data's distribution.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84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Analysis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0487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well-understood formula lets us calculate probabilities without complex case-by-case 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Inference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3708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intervals, hypothesis tests, and control charts all assume or approximate normality.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5212080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Across Fields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3708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68-95-99.7 logic applies whether the data is scores, prices, or measurements.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·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Explanation Walkthrough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live demo, we plotted a real dataset and walked through the curve step by step: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2A357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data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histogram of raw values to see the emerging shape.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794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44368" y="233172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2A3572"/>
          </a:solidFill>
          <a:ln/>
        </p:spPr>
      </p:sp>
      <p:sp>
        <p:nvSpPr>
          <p:cNvPr id="12" name="Shape 10"/>
          <p:cNvSpPr/>
          <p:nvPr/>
        </p:nvSpPr>
        <p:spPr>
          <a:xfrm>
            <a:off x="3127248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2724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27248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the curve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379476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smooth normal curve on top of the histogram.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794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48656" y="233172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2A357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31536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31536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31536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center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31536" y="379476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mean and confirm it aligns with the peak.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3794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52944" y="233172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2A3572"/>
          </a:solidFill>
          <a:ln/>
        </p:spPr>
      </p:sp>
      <p:sp>
        <p:nvSpPr>
          <p:cNvPr id="24" name="Shape 22"/>
          <p:cNvSpPr/>
          <p:nvPr/>
        </p:nvSpPr>
        <p:spPr>
          <a:xfrm>
            <a:off x="7735824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35824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35824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spread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35824" y="379476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±1σ, ±2σ, ±3σ bands across the curve.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656064" y="37947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857232" y="2331720"/>
            <a:ext cx="2103120" cy="3566160"/>
          </a:xfrm>
          <a:prstGeom prst="roundRect">
            <a:avLst>
              <a:gd name="adj" fmla="val 3913"/>
            </a:avLst>
          </a:prstGeom>
          <a:solidFill>
            <a:srgbClr val="2A357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40112" y="25328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40112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040112" y="3200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probabilities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040112" y="379476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68-95-99.7 rule to estimate real chances.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0881360" cy="5760720"/>
          </a:xfrm>
          <a:prstGeom prst="roundRect">
            <a:avLst>
              <a:gd name="adj" fmla="val 1587"/>
            </a:avLst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5156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· 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280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51560" y="220370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0756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distribution is a symmetric, bell-shaped spread of data centered on its mean.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51560" y="277063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26426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and mode all converge at the same central peak.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333756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320954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controls how wide or narrow the bell curve is.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51560" y="390448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37764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68-95-99.7 rule turns standard deviations into quick probability estimates.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47141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4343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up everywhere — from heights and test scores to manufacturing — because of the Central Limit Theorem.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51560" y="562356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742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Introduction to Probability Distributions beyond Normal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  ·  NORMAL DISTRIBUTION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2026-08-31T18:06:43Z</dcterms:created>
  <dcterms:modified xsi:type="dcterms:W3CDTF">2026-08-31T18:06:43Z</dcterms:modified>
</cp:coreProperties>
</file>