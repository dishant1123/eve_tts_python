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reliable predictions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Data Science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Statistics?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raw data into useful information for better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12A594"/>
                </a:solidFill>
              </a:rPr>
              <a:t>In Data Science, statistics helps understand patterns, identify trends, make predictions, and validate results.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Supermarket Sales Example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5394960" cy="2651760"/>
        </p:xfrm>
        <a:graphic>
          <a:graphicData uri="http://schemas.openxmlformats.org/drawingml/2006/table">
            <a:tbl>
              <a:tblPr/>
              <a:tblGrid>
                <a:gridCol w="1798320"/>
                <a:gridCol w="1798320"/>
                <a:gridCol w="17983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Sales (₹)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1-Jul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45,000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2-Jul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145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52,000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3-Jul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49,000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4-Jul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168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60,000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5-Jul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155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57,000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What Statistics Reveals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301752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32918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daily sales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sales day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sales day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Statistics Is Important in Data Science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mathematical foundation for understanding and analyzing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Without Statistics, We Cannot...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CEAE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relationships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reliable ML models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accurate predictions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Statistics Helps Data Scientists...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8463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noisy data &amp; handle missing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outliers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relationships between variables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hypotheses, build &amp; evaluate models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E-commerce Example: Predicting Purchases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303520" cy="22860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Income (₹)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Purchased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25,000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55,000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75,000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45,000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0" y="452628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4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47091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customer age &amp; income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customers who purchased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higher income increase purchase chance?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Data: Numerical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that can be measured or counted — mathematical operations apply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3192"/>
                </a:solidFill>
              </a:rPr>
              <a:t>Discrete Data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1A2E"/>
                </a:solidFill>
              </a:rPr>
              <a:t>Countable values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students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cars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products sold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023360"/>
          <a:ext cx="4663440" cy="173736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Items Purchased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A594"/>
                </a:solidFill>
              </a:rPr>
              <a:t>Continuous Data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30936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1A2E"/>
                </a:solidFill>
              </a:rPr>
              <a:t>Measured values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75120" y="28803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206240"/>
          <a:ext cx="4663440" cy="146304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Employee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Salary (₹)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45,500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52,750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61,200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Data: Categorical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or categories instead of numeric measurements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994A"/>
                </a:solidFill>
              </a:rPr>
              <a:t>Nominal Data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1A2E"/>
                </a:solidFill>
              </a:rPr>
              <a:t>No natural order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Group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206240"/>
          <a:ext cx="4663440" cy="146304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Employee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3EAFB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E44AD"/>
                </a:solidFill>
              </a:rPr>
              <a:t>Ordinal Data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30936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1A2E"/>
                </a:solidFill>
              </a:rPr>
              <a:t>Categories have a meaningful order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75120" y="28803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Level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Level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023360"/>
          <a:ext cx="4663440" cy="146304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Excellent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Good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Poor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Data Types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783080"/>
          <a:ext cx="9966960" cy="4434840"/>
        </p:xfrm>
        <a:graphic>
          <a:graphicData uri="http://schemas.openxmlformats.org/drawingml/2006/table">
            <a:tbl>
              <a:tblPr/>
              <a:tblGrid>
                <a:gridCol w="3108960"/>
                <a:gridCol w="41148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Can Calculate Average?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Numerical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Salary, Age, Height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Gender, City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E85D5D"/>
                          </a:solidFill>
                        </a:rPr>
                        <a:t>❌ No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Discrete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Number of Orders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Continuous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Weight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Nominal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Color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E85D5D"/>
                          </a:solidFill>
                        </a:rPr>
                        <a:t>❌ No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Ordinal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</a:rPr>
                        <a:t>Rating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2994A"/>
                          </a:solidFill>
                        </a:rPr>
                        <a:t>Limited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Data Examples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in hospitals, retail, and education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91440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5D"/>
                </a:solidFill>
              </a:rPr>
              <a:t>Hospital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329184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5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135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41148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patient age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gender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blood pressure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325112" y="1783080"/>
            <a:ext cx="3657600" cy="9144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1" name="Text 8"/>
          <p:cNvSpPr/>
          <p:nvPr/>
        </p:nvSpPr>
        <p:spPr>
          <a:xfrm>
            <a:off x="4325112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A594"/>
                </a:solidFill>
              </a:rPr>
              <a:t>Online Shopping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07992" y="2560320"/>
          <a:ext cx="329184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Cust.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₹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Ahmedabad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Surat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Rajkot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2800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53712" y="41148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city spends most?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purchase amount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Highest-spending age group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7830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101584" y="1783080"/>
            <a:ext cx="3657600" cy="91440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6" name="Text 12"/>
          <p:cNvSpPr/>
          <p:nvPr/>
        </p:nvSpPr>
        <p:spPr>
          <a:xfrm>
            <a:off x="8101584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3192"/>
                </a:solidFill>
              </a:rPr>
              <a:t>School</a:t>
            </a:r>
            <a:endParaRPr lang="en-US" sz="16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84464" y="2560320"/>
          <a:ext cx="329184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Att.%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8330184" y="41148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marks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marks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vs marks link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Statistics in Data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raw data into business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4F5F9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Collect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224942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4F5F9"/>
          </a:solidFill>
          <a:ln w="15240">
            <a:solidFill>
              <a:srgbClr val="E85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591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5D"/>
                </a:solidFill>
              </a:rPr>
              <a:t>Clean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87121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80944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4F5F9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8094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Explore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4930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4F5F9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0273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Calculate Statistics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41148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4F5F9"/>
          </a:solidFill>
          <a:ln w="15240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2452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DE"/>
                </a:solidFill>
              </a:rPr>
              <a:t>Visualize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47365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4F5F9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4632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92"/>
                </a:solidFill>
              </a:rPr>
              <a:t>Generate Insights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53583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68112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4F5F9"/>
          </a:solidFill>
          <a:ln w="1524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4681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44AD"/>
                </a:solidFill>
              </a:rPr>
              <a:t>Business Decision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Company Sales Example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2148840"/>
          <a:ext cx="365760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Sales (₹)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Jan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50,000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Feb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55,000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62,000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Apr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58,000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70,000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589520" y="21488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0" y="23774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sales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trend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month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month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3749040" y="4709160"/>
            <a:ext cx="7863840" cy="1280160"/>
          </a:xfrm>
          <a:prstGeom prst="roundRect">
            <a:avLst>
              <a:gd name="adj" fmla="val 7143"/>
            </a:avLst>
          </a:prstGeom>
          <a:solidFill>
            <a:srgbClr val="F4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4023360" y="47091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decides to increase inventory before high-demand months.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in Machine Learning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before, during, and after building an ML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9144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A594"/>
                </a:solidFill>
              </a:rPr>
              <a:t>Before Training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values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outliers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data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distributions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4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325112" y="1737360"/>
            <a:ext cx="3657600" cy="914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4325112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</a:rPr>
              <a:t>During Training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7432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relationships between variables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important features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unnecessary variables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1584" y="1737360"/>
            <a:ext cx="3657600" cy="914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8101584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After Training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7432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/ Recall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/ RMSE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Example: House Price Prediction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prepares the data, ML predicts the outcome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94960" cy="3017520"/>
        </p:xfrm>
        <a:graphic>
          <a:graphicData uri="http://schemas.openxmlformats.org/drawingml/2006/table">
            <a:tbl>
              <a:tblPr/>
              <a:tblGrid>
                <a:gridCol w="1798320"/>
                <a:gridCol w="1798320"/>
                <a:gridCol w="1798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Area (sq ft)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Bedrooms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Price (₹ Lakhs)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900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1100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1500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75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1800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2200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</a:rPr>
              <a:t>As area increases, price increases — a clear positive correlation.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Statistics Determines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309360" y="214884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237744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house price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area and price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distribution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of outliers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43434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43434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then predicts the price of a new house based on these patterns.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Terminology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834640"/>
                <a:gridCol w="4846320"/>
                <a:gridCol w="3611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Collection of facts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Student marks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Dataset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Collection of rows and columns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Excel table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Observation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One row in a dataset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One customer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Feature (Variable)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One column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Column to predict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Purchased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Population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Entire group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All customers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Sample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Small subset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500 customers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Mean / Median / Mode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Average / Middle / Most frequent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Salary, Age, City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Variance / Std. Deviation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Spread of data / Avg. spread from mean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Salary variation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Outlier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Unusual value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Salary = ₹50,00,000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Statistics in Data Science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2026-08-01T09:47:18Z</dcterms:created>
  <dcterms:modified xsi:type="dcterms:W3CDTF">2026-08-01T09:47:18Z</dcterms:modified>
</cp:coreProperties>
</file>