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Experience vs Salary</c:v>
                </c:pt>
              </c:strCache>
            </c:strRef>
          </c:tx>
          <c:spPr>
            <a:solidFill>
              <a:srgbClr val="065A82"/>
            </a:solidFill>
            <a:ln>
              <a:noFill/>
            </a:ln>
            <a:effectLst/>
          </c:spPr>
          <c:marker>
            <c:symbol val="circle"/>
            <c:size val="8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xVal>
            <c:numRef>
              <c:f>Sheet1!$A$2:$A$8</c:f>
              <c:numCache>
                <c:formatCode>General</c:formatCode>
                <c:ptCount val="7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</c:numCache>
            </c:numRef>
          </c:xVal>
          <c:yVal>
            <c:numRef>
              <c:f>Sheet1!$B$2:$B$8</c:f>
              <c:numCache>
                <c:formatCode>General</c:formatCode>
                <c:ptCount val="7"/>
                <c:pt idx="0">
                  <c:v>3</c:v>
                </c:pt>
                <c:pt idx="1">
                  <c:v>3.5</c:v>
                </c:pt>
                <c:pt idx="2">
                  <c:v>4.2</c:v>
                </c:pt>
                <c:pt idx="3">
                  <c:v>5</c:v>
                </c:pt>
                <c:pt idx="4">
                  <c:v>6</c:v>
                </c:pt>
                <c:pt idx="5">
                  <c:v>7.2</c:v>
                </c:pt>
                <c:pt idx="6">
                  <c:v>8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Arial"/>
                  </a:rPr>
                  <a:t>Experience (Years)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74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7E4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Arial"/>
                  </a:rPr>
                  <a:t>Salary (₹ LPA)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74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Exercise vs Body Fat</c:v>
                </c:pt>
              </c:strCache>
            </c:strRef>
          </c:tx>
          <c:spPr>
            <a:solidFill>
              <a:srgbClr val="C0392B"/>
            </a:solidFill>
            <a:ln>
              <a:noFill/>
            </a:ln>
            <a:effectLst/>
          </c:spPr>
          <c:marker>
            <c:symbol val="circle"/>
            <c:size val="8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xVal>
            <c:numRef>
              <c:f>Sheet1!$A$2:$A$7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numCache>
            </c:numRef>
          </c:xVal>
          <c:yVal>
            <c:numRef>
              <c:f>Sheet1!$B$2:$B$7</c:f>
              <c:numCache>
                <c:formatCode>General</c:formatCode>
                <c:ptCount val="6"/>
                <c:pt idx="0">
                  <c:v>28</c:v>
                </c:pt>
                <c:pt idx="1">
                  <c:v>26</c:v>
                </c:pt>
                <c:pt idx="2">
                  <c:v>25</c:v>
                </c:pt>
                <c:pt idx="3">
                  <c:v>23</c:v>
                </c:pt>
                <c:pt idx="4">
                  <c:v>21</c:v>
                </c:pt>
                <c:pt idx="5">
                  <c:v>20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Arial"/>
                  </a:rPr>
                  <a:t>Exercise (Hrs/Week)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74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7E4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Arial"/>
                  </a:rPr>
                  <a:t>Body Fat %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74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Employee ID vs Salary</c:v>
                </c:pt>
              </c:strCache>
            </c:strRef>
          </c:tx>
          <c:spPr>
            <a:solidFill>
              <a:srgbClr val="D98E1C"/>
            </a:solidFill>
            <a:ln>
              <a:noFill/>
            </a:ln>
            <a:effectLst/>
          </c:spPr>
          <c:marker>
            <c:symbol val="circle"/>
            <c:size val="8"/>
            <c:spPr>
              <a:solidFill>
                <a:srgbClr val="D98E1C"/>
              </a:solidFill>
              <a:ln w="9525" cap="flat">
                <a:solidFill>
                  <a:srgbClr val="D98E1C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101</c:v>
                </c:pt>
                <c:pt idx="1">
                  <c:v>102</c:v>
                </c:pt>
                <c:pt idx="2">
                  <c:v>103</c:v>
                </c:pt>
                <c:pt idx="3">
                  <c:v>104</c:v>
                </c:pt>
                <c:pt idx="4">
                  <c:v>105</c:v>
                </c:pt>
              </c:numCache>
            </c:numRef>
          </c:xVal>
          <c:yVal>
            <c:numRef>
              <c:f>Sheet1!$B$2:$B$6</c:f>
              <c:numCache>
                <c:formatCode>General</c:formatCode>
                <c:ptCount val="5"/>
                <c:pt idx="0">
                  <c:v>4.2</c:v>
                </c:pt>
                <c:pt idx="1">
                  <c:v>7.1</c:v>
                </c:pt>
                <c:pt idx="2">
                  <c:v>3.8</c:v>
                </c:pt>
                <c:pt idx="3">
                  <c:v>6.5</c:v>
                </c:pt>
                <c:pt idx="4">
                  <c:v>5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Arial"/>
                  </a:rPr>
                  <a:t>Employee ID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74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7E4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Arial"/>
                  </a:rPr>
                  <a:t>Salary (₹ LPA)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74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Upward Pattern</c:v>
                </c:pt>
              </c:strCache>
            </c:strRef>
          </c:tx>
          <c:spPr>
            <a:solidFill>
              <a:srgbClr val="1F9D55"/>
            </a:solidFill>
            <a:ln>
              <a:noFill/>
            </a:ln>
            <a:effectLst/>
          </c:spPr>
          <c:marker>
            <c:symbol val="circle"/>
            <c:size val="8"/>
            <c:spPr>
              <a:solidFill>
                <a:srgbClr val="1F9D55"/>
              </a:solidFill>
              <a:ln w="9525" cap="flat">
                <a:solidFill>
                  <a:srgbClr val="1F9D55"/>
                </a:solidFill>
                <a:prstDash val="solid"/>
                <a:round/>
              </a:ln>
              <a:effectLst/>
            </c:spPr>
          </c:marker>
          <c:xVal>
            <c:numRef>
              <c:f>Sheet1!$A$2:$A$8</c:f>
              <c:numCache>
                <c:formatCode>General</c:formatCode>
                <c:ptCount val="7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</c:numCache>
            </c:numRef>
          </c:xVal>
          <c:yVal>
            <c:numRef>
              <c:f>Sheet1!$B$2:$B$8</c:f>
              <c:numCache>
                <c:formatCode>General</c:formatCode>
                <c:ptCount val="7"/>
                <c:pt idx="0">
                  <c:v>10</c:v>
                </c:pt>
                <c:pt idx="1">
                  <c:v>22</c:v>
                </c:pt>
                <c:pt idx="2">
                  <c:v>28</c:v>
                </c:pt>
                <c:pt idx="3">
                  <c:v>45</c:v>
                </c:pt>
                <c:pt idx="4">
                  <c:v>52</c:v>
                </c:pt>
                <c:pt idx="5">
                  <c:v>68</c:v>
                </c:pt>
                <c:pt idx="6">
                  <c:v>80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1"/>
        <c:axPos val="l"/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Downward Pattern</c:v>
                </c:pt>
              </c:strCache>
            </c:strRef>
          </c:tx>
          <c:spPr>
            <a:solidFill>
              <a:srgbClr val="C0392B"/>
            </a:solidFill>
            <a:ln>
              <a:noFill/>
            </a:ln>
            <a:effectLst/>
          </c:spPr>
          <c:marker>
            <c:symbol val="circle"/>
            <c:size val="8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xVal>
            <c:numRef>
              <c:f>Sheet1!$A$2:$A$8</c:f>
              <c:numCache>
                <c:formatCode>General</c:formatCode>
                <c:ptCount val="7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</c:numCache>
            </c:numRef>
          </c:xVal>
          <c:yVal>
            <c:numRef>
              <c:f>Sheet1!$B$2:$B$8</c:f>
              <c:numCache>
                <c:formatCode>General</c:formatCode>
                <c:ptCount val="7"/>
                <c:pt idx="0">
                  <c:v>80</c:v>
                </c:pt>
                <c:pt idx="1">
                  <c:v>68</c:v>
                </c:pt>
                <c:pt idx="2">
                  <c:v>52</c:v>
                </c:pt>
                <c:pt idx="3">
                  <c:v>45</c:v>
                </c:pt>
                <c:pt idx="4">
                  <c:v>28</c:v>
                </c:pt>
                <c:pt idx="5">
                  <c:v>22</c:v>
                </c:pt>
                <c:pt idx="6">
                  <c:v>10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1"/>
        <c:axPos val="l"/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Random Pattern</c:v>
                </c:pt>
              </c:strCache>
            </c:strRef>
          </c:tx>
          <c:spPr>
            <a:solidFill>
              <a:srgbClr val="D98E1C"/>
            </a:solidFill>
            <a:ln>
              <a:noFill/>
            </a:ln>
            <a:effectLst/>
          </c:spPr>
          <c:marker>
            <c:symbol val="circle"/>
            <c:size val="8"/>
            <c:spPr>
              <a:solidFill>
                <a:srgbClr val="D98E1C"/>
              </a:solidFill>
              <a:ln w="9525" cap="flat">
                <a:solidFill>
                  <a:srgbClr val="D98E1C"/>
                </a:solidFill>
                <a:prstDash val="solid"/>
                <a:round/>
              </a:ln>
              <a:effectLst/>
            </c:spPr>
          </c:marker>
          <c:xVal>
            <c:numRef>
              <c:f>Sheet1!$A$2:$A$8</c:f>
              <c:numCache>
                <c:formatCode>General</c:formatCode>
                <c:ptCount val="7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</c:numCache>
            </c:numRef>
          </c:xVal>
          <c:yVal>
            <c:numRef>
              <c:f>Sheet1!$B$2:$B$8</c:f>
              <c:numCache>
                <c:formatCode>General</c:formatCode>
                <c:ptCount val="7"/>
                <c:pt idx="0">
                  <c:v>40</c:v>
                </c:pt>
                <c:pt idx="1">
                  <c:v>65</c:v>
                </c:pt>
                <c:pt idx="2">
                  <c:v>20</c:v>
                </c:pt>
                <c:pt idx="3">
                  <c:v>55</c:v>
                </c:pt>
                <c:pt idx="4">
                  <c:v>35</c:v>
                </c:pt>
                <c:pt idx="5">
                  <c:v>70</c:v>
                </c:pt>
                <c:pt idx="6">
                  <c:v>25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1"/>
        <c:axPos val="l"/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chart" Target="/ppt/charts/chart6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74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FOR DATA SCIENCE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28600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Positive, Negative &amp; Zero Correlation  •  Correlation Coefficient  •  Scatter Plots  •  Correlation vs Causation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343400"/>
            <a:ext cx="4937760" cy="1234440"/>
          </a:xfrm>
          <a:prstGeom prst="roundRect">
            <a:avLst>
              <a:gd name="adj" fmla="val 5926"/>
            </a:avLst>
          </a:prstGeom>
          <a:solidFill>
            <a:srgbClr val="065A82">
              <a:alpha val="75000"/>
            </a:srgbClr>
          </a:solidFill>
          <a:ln w="12700">
            <a:solidFill>
              <a:srgbClr val="3E6E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4498848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idea: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tells us how strongly and in which direction two variables move together — not whether one causes the other.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Correlation?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tells us how strongly, and in which direction, two variables are related.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73152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093976"/>
            <a:ext cx="2468880" cy="429768"/>
          </a:xfrm>
          <a:prstGeom prst="roundRect">
            <a:avLst>
              <a:gd name="adj" fmla="val 12766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93976"/>
            <a:ext cx="24688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29000" y="2167128"/>
            <a:ext cx="502920" cy="274320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9" name="Shape 7"/>
          <p:cNvSpPr/>
          <p:nvPr/>
        </p:nvSpPr>
        <p:spPr>
          <a:xfrm>
            <a:off x="4114800" y="2093976"/>
            <a:ext cx="2468880" cy="429768"/>
          </a:xfrm>
          <a:prstGeom prst="roundRect">
            <a:avLst>
              <a:gd name="adj" fmla="val 12766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0" y="2093976"/>
            <a:ext cx="24688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880360"/>
            <a:ext cx="73152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3008376"/>
            <a:ext cx="2468880" cy="429768"/>
          </a:xfrm>
          <a:prstGeom prst="roundRect">
            <a:avLst>
              <a:gd name="adj" fmla="val 12766"/>
            </a:avLst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008376"/>
            <a:ext cx="24688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Hours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429000" y="3081528"/>
            <a:ext cx="502920" cy="274320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5" name="Shape 13"/>
          <p:cNvSpPr/>
          <p:nvPr/>
        </p:nvSpPr>
        <p:spPr>
          <a:xfrm>
            <a:off x="4114800" y="3008376"/>
            <a:ext cx="2468880" cy="429768"/>
          </a:xfrm>
          <a:prstGeom prst="roundRect">
            <a:avLst>
              <a:gd name="adj" fmla="val 12766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0" y="3008376"/>
            <a:ext cx="24688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Marks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794760"/>
            <a:ext cx="73152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3922776"/>
            <a:ext cx="2468880" cy="429768"/>
          </a:xfrm>
          <a:prstGeom prst="roundRect">
            <a:avLst>
              <a:gd name="adj" fmla="val 12766"/>
            </a:avLst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922776"/>
            <a:ext cx="24688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Advertising Spend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429000" y="3995928"/>
            <a:ext cx="502920" cy="274320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21" name="Shape 19"/>
          <p:cNvSpPr/>
          <p:nvPr/>
        </p:nvSpPr>
        <p:spPr>
          <a:xfrm>
            <a:off x="4114800" y="3922776"/>
            <a:ext cx="2468880" cy="429768"/>
          </a:xfrm>
          <a:prstGeom prst="roundRect">
            <a:avLst>
              <a:gd name="adj" fmla="val 12766"/>
            </a:avLst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0" y="3922776"/>
            <a:ext cx="24688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229600" y="1965960"/>
            <a:ext cx="3429000" cy="3977640"/>
          </a:xfrm>
          <a:prstGeom prst="roundRect">
            <a:avLst>
              <a:gd name="adj" fmla="val 2667"/>
            </a:avLst>
          </a:prstGeom>
          <a:solidFill>
            <a:srgbClr val="21295C"/>
          </a:solidFill>
          <a:ln/>
        </p:spPr>
      </p:sp>
      <p:sp>
        <p:nvSpPr>
          <p:cNvPr id="24" name="Shape 22"/>
          <p:cNvSpPr/>
          <p:nvPr/>
        </p:nvSpPr>
        <p:spPr>
          <a:xfrm>
            <a:off x="8549640" y="2240280"/>
            <a:ext cx="502920" cy="502920"/>
          </a:xfrm>
          <a:prstGeom prst="ellipse">
            <a:avLst/>
          </a:prstGeom>
          <a:solidFill>
            <a:srgbClr val="9FD3E8"/>
          </a:solidFill>
          <a:ln/>
        </p:spPr>
      </p:sp>
      <p:sp>
        <p:nvSpPr>
          <p:cNvPr id="25" name="Text 23"/>
          <p:cNvSpPr/>
          <p:nvPr/>
        </p:nvSpPr>
        <p:spPr>
          <a:xfrm>
            <a:off x="854964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549640" y="28803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549640" y="333756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does not tell us that one variable causes the other.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549640" y="48463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return to this in Correlation vs Causation.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Positive Correlation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one variable increases, the other generally increases too.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4114800" cy="41148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</a:tblGrid>
              <a:tr h="5143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Experience (Years)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Salary (₹ LPA)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892040" y="1737360"/>
            <a:ext cx="672084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120640" y="1874520"/>
            <a:ext cx="6263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vs Salary</a:t>
            </a:r>
            <a:endParaRPr lang="en-US" sz="14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120640" y="2331720"/>
          <a:ext cx="626364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5989320"/>
            <a:ext cx="4114800" cy="548640"/>
          </a:xfrm>
          <a:prstGeom prst="roundRect">
            <a:avLst>
              <a:gd name="adj" fmla="val 10000"/>
            </a:avLst>
          </a:prstGeom>
          <a:solidFill>
            <a:srgbClr val="E7F5EC"/>
          </a:solidFill>
          <a:ln/>
        </p:spPr>
      </p:sp>
      <p:sp>
        <p:nvSpPr>
          <p:cNvPr id="10" name="Text 6"/>
          <p:cNvSpPr/>
          <p:nvPr/>
        </p:nvSpPr>
        <p:spPr>
          <a:xfrm>
            <a:off x="777240" y="59893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 Positive correlation — r ≈ 0.98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Negative Correlation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one variable increases, the other generally decreases.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4114800" cy="41148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</a:tblGrid>
              <a:tr h="5878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Exercise (Hrs/Week)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Body Fat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892040" y="1737360"/>
            <a:ext cx="672084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120640" y="1874520"/>
            <a:ext cx="6263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vs Body Fat</a:t>
            </a:r>
            <a:endParaRPr lang="en-US" sz="14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120640" y="2331720"/>
          <a:ext cx="626364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5989320"/>
            <a:ext cx="4114800" cy="548640"/>
          </a:xfrm>
          <a:prstGeom prst="roundRect">
            <a:avLst>
              <a:gd name="adj" fmla="val 10000"/>
            </a:avLst>
          </a:prstGeom>
          <a:solidFill>
            <a:srgbClr val="FBEAEA"/>
          </a:solidFill>
          <a:ln/>
        </p:spPr>
      </p:sp>
      <p:sp>
        <p:nvSpPr>
          <p:cNvPr id="10" name="Text 6"/>
          <p:cNvSpPr/>
          <p:nvPr/>
        </p:nvSpPr>
        <p:spPr>
          <a:xfrm>
            <a:off x="777240" y="59893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↘  Negative correlation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Correlation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meaningful linear relationship between the two variables.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4114800" cy="34290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</a:tblGrid>
              <a:tr h="5715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 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Salary (₹ LPA)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892040" y="1737360"/>
            <a:ext cx="672084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120640" y="1874520"/>
            <a:ext cx="6263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ID vs Salary</a:t>
            </a:r>
            <a:endParaRPr lang="en-US" sz="14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120640" y="2331720"/>
          <a:ext cx="626364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5349240"/>
            <a:ext cx="4114800" cy="1188720"/>
          </a:xfrm>
          <a:prstGeom prst="roundRect">
            <a:avLst>
              <a:gd name="adj" fmla="val 6154"/>
            </a:avLst>
          </a:prstGeom>
          <a:solidFill>
            <a:srgbClr val="EAF2F6"/>
          </a:solidFill>
          <a:ln/>
        </p:spPr>
      </p:sp>
      <p:sp>
        <p:nvSpPr>
          <p:cNvPr id="10" name="Text 6"/>
          <p:cNvSpPr/>
          <p:nvPr/>
        </p:nvSpPr>
        <p:spPr>
          <a:xfrm>
            <a:off x="777240" y="534924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ID doesn't meaningfully tell us anything about salary.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Correlation Coefficient (r)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Ranges from –1 to +1, and tells us both direction and strength.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0789920" cy="502920"/>
          </a:xfrm>
          <a:prstGeom prst="roundRect">
            <a:avLst>
              <a:gd name="adj" fmla="val 14545"/>
            </a:avLst>
          </a:prstGeom>
          <a:solidFill>
            <a:srgbClr val="C0392B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0" y="1828800"/>
            <a:ext cx="5394960" cy="50292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0" y="1828800"/>
            <a:ext cx="3749040" cy="502920"/>
          </a:xfrm>
          <a:prstGeom prst="rect">
            <a:avLst/>
          </a:prstGeom>
          <a:solidFill>
            <a:srgbClr val="1F9D55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3774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136392" y="23774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724144" y="23774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311896" y="23774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+0.5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899648" y="23774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834640"/>
          <a:ext cx="6126480" cy="3063240"/>
        </p:xfrm>
        <a:graphic>
          <a:graphicData uri="http://schemas.openxmlformats.org/drawingml/2006/table">
            <a:tbl>
              <a:tblPr/>
              <a:tblGrid>
                <a:gridCol w="1371600"/>
                <a:gridCol w="4754880"/>
              </a:tblGrid>
              <a:tr h="3829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value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3829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Perfect positive correlation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29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positive correlation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</a:tr>
              <a:tr h="3829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positive correlation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29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linear correlation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</a:tr>
              <a:tr h="3829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negative correlation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29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negative correlation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</a:tr>
              <a:tr h="3829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Perfect negative correlation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6949440" y="2834640"/>
            <a:ext cx="4663440" cy="3063240"/>
          </a:xfrm>
          <a:prstGeom prst="roundRect">
            <a:avLst>
              <a:gd name="adj" fmla="val 2985"/>
            </a:avLst>
          </a:prstGeom>
          <a:solidFill>
            <a:srgbClr val="21295C"/>
          </a:solidFill>
          <a:ln/>
        </p:spPr>
      </p:sp>
      <p:sp>
        <p:nvSpPr>
          <p:cNvPr id="15" name="Text 12"/>
          <p:cNvSpPr/>
          <p:nvPr/>
        </p:nvSpPr>
        <p:spPr>
          <a:xfrm>
            <a:off x="7223760" y="30175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Way to Remember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223760" y="35204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→ Direction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223760" y="3840480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Positive relationship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 Negative relationship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 No linear relationship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223760" y="48006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Value → Strength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223760" y="512064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to 1  →  Strong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to 0  →  Weak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Scatter Plots &amp; Their Patterns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scatter plot displays individual observations as points — X = Experience, Y = Salary, one point per employee.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520440" cy="411480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116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Upward Pattern</a:t>
            </a:r>
            <a:endParaRPr lang="en-US" sz="15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731520" y="2423160"/>
          <a:ext cx="315468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77240" y="5166360"/>
            <a:ext cx="3063240" cy="640080"/>
          </a:xfrm>
          <a:prstGeom prst="roundRect">
            <a:avLst>
              <a:gd name="adj" fmla="val 8571"/>
            </a:avLst>
          </a:prstGeom>
          <a:solidFill>
            <a:srgbClr val="F5F9FB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516636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correlation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279392" y="1874520"/>
            <a:ext cx="3520440" cy="411480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07992" y="20116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Downward Pattern</a:t>
            </a:r>
            <a:endParaRPr lang="en-US" sz="1500" dirty="0"/>
          </a:p>
        </p:txBody>
      </p:sp>
      <p:graphicFrame>
        <p:nvGraphicFramePr>
          <p:cNvPr id="12" name="Chart 1" descr=""/>
          <p:cNvGraphicFramePr/>
          <p:nvPr/>
        </p:nvGraphicFramePr>
        <p:xfrm>
          <a:off x="4462272" y="2423160"/>
          <a:ext cx="315468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Shape 9"/>
          <p:cNvSpPr/>
          <p:nvPr/>
        </p:nvSpPr>
        <p:spPr>
          <a:xfrm>
            <a:off x="4507992" y="5166360"/>
            <a:ext cx="3063240" cy="640080"/>
          </a:xfrm>
          <a:prstGeom prst="roundRect">
            <a:avLst>
              <a:gd name="adj" fmla="val 8571"/>
            </a:avLst>
          </a:prstGeom>
          <a:solidFill>
            <a:srgbClr val="F5F9FB"/>
          </a:solidFill>
          <a:ln/>
        </p:spPr>
      </p:sp>
      <p:sp>
        <p:nvSpPr>
          <p:cNvPr id="14" name="Text 10"/>
          <p:cNvSpPr/>
          <p:nvPr/>
        </p:nvSpPr>
        <p:spPr>
          <a:xfrm>
            <a:off x="4645152" y="516636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correlation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010144" y="1874520"/>
            <a:ext cx="3520440" cy="411480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238744" y="20116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Pattern</a:t>
            </a:r>
            <a:endParaRPr lang="en-US" sz="1500" dirty="0"/>
          </a:p>
        </p:txBody>
      </p:sp>
      <p:graphicFrame>
        <p:nvGraphicFramePr>
          <p:cNvPr id="17" name="Chart 2" descr=""/>
          <p:cNvGraphicFramePr/>
          <p:nvPr/>
        </p:nvGraphicFramePr>
        <p:xfrm>
          <a:off x="8193024" y="2423160"/>
          <a:ext cx="315468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8" name="Shape 13"/>
          <p:cNvSpPr/>
          <p:nvPr/>
        </p:nvSpPr>
        <p:spPr>
          <a:xfrm>
            <a:off x="8238744" y="5166360"/>
            <a:ext cx="3063240" cy="640080"/>
          </a:xfrm>
          <a:prstGeom prst="roundRect">
            <a:avLst>
              <a:gd name="adj" fmla="val 8571"/>
            </a:avLst>
          </a:prstGeom>
          <a:solidFill>
            <a:srgbClr val="F5F9FB"/>
          </a:solidFill>
          <a:ln/>
        </p:spPr>
      </p:sp>
      <p:sp>
        <p:nvSpPr>
          <p:cNvPr id="19" name="Text 14"/>
          <p:cNvSpPr/>
          <p:nvPr/>
        </p:nvSpPr>
        <p:spPr>
          <a:xfrm>
            <a:off x="8375904" y="516636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D98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/ no linear correlation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vs Causation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most important ideas in statistics: correlation ≠ causation.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2120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745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variables are related.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89320" y="1737360"/>
            <a:ext cx="5623560" cy="137160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6263640" y="18745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263640" y="228600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variable actually causes a change in another.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291840"/>
            <a:ext cx="11064240" cy="3108960"/>
          </a:xfrm>
          <a:prstGeom prst="roundRect">
            <a:avLst>
              <a:gd name="adj" fmla="val 2941"/>
            </a:avLst>
          </a:prstGeom>
          <a:solidFill>
            <a:srgbClr val="21295C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474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Example: Ice Cream &amp; Swimming Accidents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4023360"/>
            <a:ext cx="2743200" cy="777240"/>
          </a:xfrm>
          <a:prstGeom prst="roundRect">
            <a:avLst>
              <a:gd name="adj" fmla="val 8235"/>
            </a:avLst>
          </a:prstGeom>
          <a:solidFill>
            <a:srgbClr val="065A82">
              <a:alpha val="75000"/>
            </a:srgbClr>
          </a:solidFill>
          <a:ln w="12700">
            <a:solidFill>
              <a:srgbClr val="3E6E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0233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 Cream Sales ↑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840480" y="4023360"/>
            <a:ext cx="2743200" cy="777240"/>
          </a:xfrm>
          <a:prstGeom prst="roundRect">
            <a:avLst>
              <a:gd name="adj" fmla="val 8235"/>
            </a:avLst>
          </a:prstGeom>
          <a:solidFill>
            <a:srgbClr val="065A82">
              <a:alpha val="75000"/>
            </a:srgbClr>
          </a:solidFill>
          <a:ln w="12700">
            <a:solidFill>
              <a:srgbClr val="3E6E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23360" y="40233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Swimming Accidents ↑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66160" y="41605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172200" y="4892040"/>
            <a:ext cx="320040" cy="274320"/>
          </a:xfrm>
          <a:prstGeom prst="downArrow">
            <a:avLst/>
          </a:prstGeom>
          <a:solidFill>
            <a:srgbClr val="9FD3E8"/>
          </a:solidFill>
          <a:ln/>
        </p:spPr>
      </p:sp>
      <p:sp>
        <p:nvSpPr>
          <p:cNvPr id="19" name="Shape 17"/>
          <p:cNvSpPr/>
          <p:nvPr/>
        </p:nvSpPr>
        <p:spPr>
          <a:xfrm>
            <a:off x="4480560" y="5166360"/>
            <a:ext cx="3200400" cy="685800"/>
          </a:xfrm>
          <a:prstGeom prst="roundRect">
            <a:avLst>
              <a:gd name="adj" fmla="val 9333"/>
            </a:avLst>
          </a:prstGeom>
          <a:solidFill>
            <a:srgbClr val="9FD3E8"/>
          </a:solidFill>
          <a:ln/>
        </p:spPr>
      </p:sp>
      <p:sp>
        <p:nvSpPr>
          <p:cNvPr id="20" name="Text 18"/>
          <p:cNvSpPr/>
          <p:nvPr/>
        </p:nvSpPr>
        <p:spPr>
          <a:xfrm>
            <a:off x="4480560" y="516636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Cause: Hot Weather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955280" y="507492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weather drives both more ice cream sales and more swimming — which can mean more accidents. A third variable explains both, so correlation alone never proves causation.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Examples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we might observe — not automatic proof of causation.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0789920" cy="4023360"/>
        </p:xfrm>
        <a:graphic>
          <a:graphicData uri="http://schemas.openxmlformats.org/drawingml/2006/table">
            <a:tbl>
              <a:tblPr/>
              <a:tblGrid>
                <a:gridCol w="3593592"/>
                <a:gridCol w="3593592"/>
                <a:gridCol w="3602736"/>
              </a:tblGrid>
              <a:tr h="5747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Possible Relationship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Study hours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 marks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9D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↗ Positive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9D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↗ Positive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Exercise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Body fat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↘ Negative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price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↘ Often negative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Ice cream sales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9D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↗ Positive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Advertising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9D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↗ Often positive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989320"/>
            <a:ext cx="10789920" cy="502920"/>
          </a:xfrm>
          <a:prstGeom prst="roundRect">
            <a:avLst>
              <a:gd name="adj" fmla="val 10909"/>
            </a:avLst>
          </a:prstGeom>
          <a:solidFill>
            <a:srgbClr val="EAF2F6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598932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these are observed relationships, not proof that one variable causes the other.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SUMMARY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Summary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1737360"/>
            <a:ext cx="5212080" cy="685800"/>
          </a:xfrm>
          <a:prstGeom prst="roundRect">
            <a:avLst>
              <a:gd name="adj" fmla="val 9333"/>
            </a:avLst>
          </a:prstGeom>
          <a:solidFill>
            <a:srgbClr val="065A82">
              <a:alpha val="70000"/>
            </a:srgbClr>
          </a:solidFill>
          <a:ln w="12700">
            <a:solidFill>
              <a:srgbClr val="3E6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737360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= relationship between two variables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2606040"/>
            <a:ext cx="5212080" cy="685800"/>
          </a:xfrm>
          <a:prstGeom prst="roundRect">
            <a:avLst>
              <a:gd name="adj" fmla="val 9333"/>
            </a:avLst>
          </a:prstGeom>
          <a:solidFill>
            <a:srgbClr val="065A82">
              <a:alpha val="70000"/>
            </a:srgbClr>
          </a:solidFill>
          <a:ln w="12700">
            <a:solidFill>
              <a:srgbClr val="3E6E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606040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→ both tend to increase together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3474720"/>
            <a:ext cx="5212080" cy="685800"/>
          </a:xfrm>
          <a:prstGeom prst="roundRect">
            <a:avLst>
              <a:gd name="adj" fmla="val 9333"/>
            </a:avLst>
          </a:prstGeom>
          <a:solidFill>
            <a:srgbClr val="065A82">
              <a:alpha val="70000"/>
            </a:srgbClr>
          </a:solidFill>
          <a:ln w="12700">
            <a:solidFill>
              <a:srgbClr val="3E6E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3474720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→ one increases while the other decreases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4343400"/>
            <a:ext cx="5212080" cy="685800"/>
          </a:xfrm>
          <a:prstGeom prst="roundRect">
            <a:avLst>
              <a:gd name="adj" fmla="val 9333"/>
            </a:avLst>
          </a:prstGeom>
          <a:solidFill>
            <a:srgbClr val="065A82">
              <a:alpha val="70000"/>
            </a:srgbClr>
          </a:solidFill>
          <a:ln w="12700">
            <a:solidFill>
              <a:srgbClr val="3E6E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4343400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→ no meaningful linear relationship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0" y="1737360"/>
            <a:ext cx="5212080" cy="685800"/>
          </a:xfrm>
          <a:prstGeom prst="roundRect">
            <a:avLst>
              <a:gd name="adj" fmla="val 9333"/>
            </a:avLst>
          </a:prstGeom>
          <a:solidFill>
            <a:srgbClr val="065A82">
              <a:alpha val="70000"/>
            </a:srgbClr>
          </a:solidFill>
          <a:ln w="12700">
            <a:solidFill>
              <a:srgbClr val="3E6E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1737360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ranges from –1 to +1 (sign = direction, magnitude = strength)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0" y="2606040"/>
            <a:ext cx="5212080" cy="685800"/>
          </a:xfrm>
          <a:prstGeom prst="roundRect">
            <a:avLst>
              <a:gd name="adj" fmla="val 9333"/>
            </a:avLst>
          </a:prstGeom>
          <a:solidFill>
            <a:srgbClr val="065A82">
              <a:alpha val="70000"/>
            </a:srgbClr>
          </a:solidFill>
          <a:ln w="12700">
            <a:solidFill>
              <a:srgbClr val="3E6E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2606040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plots help visualize correlation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0" y="3474720"/>
            <a:ext cx="5212080" cy="685800"/>
          </a:xfrm>
          <a:prstGeom prst="roundRect">
            <a:avLst>
              <a:gd name="adj" fmla="val 9333"/>
            </a:avLst>
          </a:prstGeom>
          <a:solidFill>
            <a:srgbClr val="065A82">
              <a:alpha val="70000"/>
            </a:srgbClr>
          </a:solidFill>
          <a:ln w="12700">
            <a:solidFill>
              <a:srgbClr val="3E6E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9400" y="3474720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does not mean causation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2026-08-25T09:59:47Z</dcterms:created>
  <dcterms:modified xsi:type="dcterms:W3CDTF">2026-08-25T09:59:47Z</dcterms:modified>
</cp:coreProperties>
</file>