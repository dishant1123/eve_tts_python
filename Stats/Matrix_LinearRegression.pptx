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6858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9619488" y="6858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4A6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1612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4A6B"/>
          </a:solidFill>
          <a:ln/>
        </p:spPr>
      </p:sp>
      <p:sp>
        <p:nvSpPr>
          <p:cNvPr id="5" name="Shape 3"/>
          <p:cNvSpPr/>
          <p:nvPr/>
        </p:nvSpPr>
        <p:spPr>
          <a:xfrm>
            <a:off x="9619488" y="11612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 MACHINE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Multiplication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math intuition behind how models turn inputs into predictions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Multiplication: The Basics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rows of the first matrix by columns of the second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2F6FA"/>
          </a:solidFill>
          <a:ln w="19050">
            <a:solidFill>
              <a:srgbClr val="2E6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6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9659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2F6FA"/>
          </a:solidFill>
          <a:ln w="1905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5   6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6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2C4C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9659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19   22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43   50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3611880"/>
            <a:ext cx="8503920" cy="137160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 FIRST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row 1 of A by column 1 of B, then add the products: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448056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× 5) + (2 × 7)  =  19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row-by-column process fills in every other value of AB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in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often work with many features at once — matrices make that fast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want to predict house price from these features: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329184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434840" y="24688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166360" y="1965960"/>
            <a:ext cx="1005840" cy="1645920"/>
          </a:xfrm>
          <a:prstGeom prst="roundRect">
            <a:avLst>
              <a:gd name="adj" fmla="val 7273"/>
            </a:avLst>
          </a:prstGeom>
          <a:solidFill>
            <a:srgbClr val="F2F6FA"/>
          </a:solidFill>
          <a:ln w="19050">
            <a:solidFill>
              <a:srgbClr val="2E6F9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6360" y="19659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-500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66360" y="3657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24688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086600" y="196596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0F2C4C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1965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1148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calculating each house's prediction one at a time, matrix multiplication lets the model compute predictions for every row of data in a single operation — this is why ML libraries rely on matrix math for speed.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Predicting Continuous Values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straight-line relationship between an input and an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0" y="160020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6002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mx + 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9260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9260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29260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35440" y="3429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2594610" cy="548640"/>
          </a:xfrm>
          <a:prstGeom prst="roundRect">
            <a:avLst>
              <a:gd name="adj" fmla="val 13333"/>
            </a:avLst>
          </a:prstGeom>
          <a:solidFill>
            <a:srgbClr val="1E426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25946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→ Salary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71850" y="4480560"/>
            <a:ext cx="2594610" cy="548640"/>
          </a:xfrm>
          <a:prstGeom prst="roundRect">
            <a:avLst>
              <a:gd name="adj" fmla="val 13333"/>
            </a:avLst>
          </a:prstGeom>
          <a:solidFill>
            <a:srgbClr val="1E4265"/>
          </a:solidFill>
          <a:ln/>
        </p:spPr>
      </p:sp>
      <p:sp>
        <p:nvSpPr>
          <p:cNvPr id="22" name="Text 20"/>
          <p:cNvSpPr/>
          <p:nvPr/>
        </p:nvSpPr>
        <p:spPr>
          <a:xfrm>
            <a:off x="3371850" y="4480560"/>
            <a:ext cx="25946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→ House Price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5060" y="4480560"/>
            <a:ext cx="2594610" cy="548640"/>
          </a:xfrm>
          <a:prstGeom prst="roundRect">
            <a:avLst>
              <a:gd name="adj" fmla="val 13333"/>
            </a:avLst>
          </a:prstGeom>
          <a:solidFill>
            <a:srgbClr val="1E4265"/>
          </a:solidFill>
          <a:ln/>
        </p:spPr>
      </p:sp>
      <p:sp>
        <p:nvSpPr>
          <p:cNvPr id="24" name="Text 22"/>
          <p:cNvSpPr/>
          <p:nvPr/>
        </p:nvSpPr>
        <p:spPr>
          <a:xfrm>
            <a:off x="6195060" y="4480560"/>
            <a:ext cx="25946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→ Sales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18270" y="4480560"/>
            <a:ext cx="2594610" cy="548640"/>
          </a:xfrm>
          <a:prstGeom prst="roundRect">
            <a:avLst>
              <a:gd name="adj" fmla="val 13333"/>
            </a:avLst>
          </a:prstGeom>
          <a:solidFill>
            <a:srgbClr val="1E4265"/>
          </a:solidFill>
          <a:ln/>
        </p:spPr>
      </p:sp>
      <p:sp>
        <p:nvSpPr>
          <p:cNvPr id="26" name="Text 24"/>
          <p:cNvSpPr/>
          <p:nvPr/>
        </p:nvSpPr>
        <p:spPr>
          <a:xfrm>
            <a:off x="9018270" y="4480560"/>
            <a:ext cx="25946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→ Exam 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525780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1737360" y="5257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= 5000(Experience) + 20000   →   at 3 years: Salary = ₹35,000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of Slope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 changes when X increases by 1 unit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5000(Experience) + 20000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0F2C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5000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additional 1 year of experience, predicted salary increases by ₹5,000.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44805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steeper the slope, the faster Y changes as X grows.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9659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1691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increases → Y increases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0632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33375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E6F9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337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3063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increases → Y decreases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44348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709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5C7285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709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92440" y="4434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has no linear effect on 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of Intercept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value of Y when X = 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5000(Experience) + 20000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Experience = 0: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0F2C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17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= ₹20,000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intercept is ₹20,000 — the baseline value before X contributes anything.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4023360"/>
          </a:xfrm>
          <a:prstGeom prst="roundRect">
            <a:avLst>
              <a:gd name="adj" fmla="val 2273"/>
            </a:avLst>
          </a:prstGeom>
          <a:solidFill>
            <a:srgbClr val="0F2C4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intercept as the starting point of the line — where it crosses the Y-axis before any input is applied.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5029200" cy="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7033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 0 years of experience is still predicted to earn ₹20,000 — perhaps a base entry-level salary.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Best-Fit 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rarely falls in a perfect line — regression finds the closest fit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29184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6916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2F6FA"/>
          </a:solidFill>
          <a:ln/>
        </p:spPr>
      </p:sp>
      <p:sp>
        <p:nvSpPr>
          <p:cNvPr id="6" name="Shape 3"/>
          <p:cNvSpPr/>
          <p:nvPr/>
        </p:nvSpPr>
        <p:spPr>
          <a:xfrm>
            <a:off x="5212080" y="1965960"/>
            <a:ext cx="0" cy="2788920"/>
          </a:xfrm>
          <a:prstGeom prst="line">
            <a:avLst/>
          </a:prstGeom>
          <a:noFill/>
          <a:ln w="15875">
            <a:solidFill>
              <a:srgbClr val="5C72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0" y="4754880"/>
            <a:ext cx="5852160" cy="0"/>
          </a:xfrm>
          <a:prstGeom prst="line">
            <a:avLst/>
          </a:prstGeom>
          <a:noFill/>
          <a:ln w="15875">
            <a:solidFill>
              <a:srgbClr val="5C72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51576" y="3598713"/>
            <a:ext cx="5394960" cy="-1484986"/>
          </a:xfrm>
          <a:prstGeom prst="line">
            <a:avLst/>
          </a:prstGeom>
          <a:noFill/>
          <a:ln w="28575">
            <a:solidFill>
              <a:srgbClr val="0F2C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91072" y="3429000"/>
            <a:ext cx="0" cy="21214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227064" y="3364992"/>
            <a:ext cx="128016" cy="128016"/>
          </a:xfrm>
          <a:prstGeom prst="ellipse">
            <a:avLst/>
          </a:prstGeom>
          <a:solidFill>
            <a:srgbClr val="0F2C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70064" y="3110789"/>
            <a:ext cx="0" cy="42428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7306056" y="3046781"/>
            <a:ext cx="128016" cy="128016"/>
          </a:xfrm>
          <a:prstGeom prst="ellipse">
            <a:avLst/>
          </a:prstGeom>
          <a:solidFill>
            <a:srgbClr val="0F2C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49056" y="2856220"/>
            <a:ext cx="0" cy="42428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8385048" y="2834640"/>
            <a:ext cx="128016" cy="128016"/>
          </a:xfrm>
          <a:prstGeom prst="ellipse">
            <a:avLst/>
          </a:prstGeom>
          <a:solidFill>
            <a:srgbClr val="0F2C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8048" y="2527402"/>
            <a:ext cx="0" cy="31821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9464040" y="2463394"/>
            <a:ext cx="128016" cy="128016"/>
          </a:xfrm>
          <a:prstGeom prst="ellipse">
            <a:avLst/>
          </a:prstGeom>
          <a:solidFill>
            <a:srgbClr val="0F2C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07040" y="2209190"/>
            <a:ext cx="0" cy="53035"/>
          </a:xfrm>
          <a:prstGeom prst="line">
            <a:avLst/>
          </a:prstGeom>
          <a:noFill/>
          <a:ln w="12700">
            <a:solidFill>
              <a:srgbClr val="FF6B6B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10543032" y="2145182"/>
            <a:ext cx="128016" cy="128016"/>
          </a:xfrm>
          <a:prstGeom prst="ellipse">
            <a:avLst/>
          </a:prstGeom>
          <a:solidFill>
            <a:srgbClr val="0F2C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9516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→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46320" y="4937760"/>
            <a:ext cx="109728" cy="10972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48188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92240" y="4992624"/>
            <a:ext cx="27432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812280" y="48188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54864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F2C4C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4864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Actual value − Predicted value.  The model tries to make these errors as small as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in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feature to many — the equation scales 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E426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600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 = b₀ + b₁x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578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E426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00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 = b₀ + b₁x₁ + b₂x₂ + b₃x₃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25786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HOUSE PRICE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50000 + 3000(Area) + 100000(Bedrooms)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3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= Area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feature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45262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4663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= Bedrooms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feature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663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 = 50,000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45262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4265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4663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b₁, b₂ = 3000, 100000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matrix multiplication becomes useful — ML computes many predictions using matrix operations instead of one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ML Intuition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is the mechanism that turns inputs into predictions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3796" y="2286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2F6FA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31236" y="2697480"/>
            <a:ext cx="457200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88436" y="2286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F2C4C"/>
          </a:solidFill>
          <a:ln/>
        </p:spPr>
      </p:sp>
      <p:sp>
        <p:nvSpPr>
          <p:cNvPr id="8" name="Text 6"/>
          <p:cNvSpPr/>
          <p:nvPr/>
        </p:nvSpPr>
        <p:spPr>
          <a:xfrm>
            <a:off x="3488436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65876" y="2697480"/>
            <a:ext cx="457200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23076" y="2286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F2C4C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/ Equation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00516" y="2697480"/>
            <a:ext cx="457200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57716" y="2286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57716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Salary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737360" y="3749040"/>
            <a:ext cx="8686800" cy="1463040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9319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Mathematical calculation → Prediction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44348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is not separate from ML — it's the mechanism that allows the model to convert inputs into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Classroom Activity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you've learned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66160" y="16002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600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4x + 10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697480"/>
          <a:ext cx="68580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4x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26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4(2)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4(5)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5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4(10) + 10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0" y="51663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6B6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4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0" y="51663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1E4265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5166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= 10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intuition behind ML predictions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598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combines rows of one matrix with columns of another to compute many results at once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2598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80136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use matrix operations to calculate predictions for many rows of data efficiently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26440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(y = mx + c) predicts a continuous value from an input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58902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890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26440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tells us how much Y changes per unit of X; intercept is Y's value when X =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05206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52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72744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best-fit line minimizes the residuals — the gaps between actual and predicted values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5052060"/>
            <a:ext cx="365760" cy="365760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520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4727448"/>
            <a:ext cx="443484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is the mechanism that turns inputs into predictions — it's not separate from ML, it IS the model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2026-09-08T09:17:29Z</dcterms:created>
  <dcterms:modified xsi:type="dcterms:W3CDTF">2026-09-08T09:17:29Z</dcterms:modified>
</cp:coreProperties>
</file>