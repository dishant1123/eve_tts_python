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Visitors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9D55"/>
              </a:solidFill>
              <a:effectLst/>
            </c:spPr>
          </c:dPt>
          <c:dPt>
            <c:idx val="1"/>
            <c:bubble3D val="0"/>
            <c:spPr>
              <a:solidFill>
                <a:srgbClr val="D7E4E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Purchased</c:v>
                </c:pt>
                <c:pt idx="1">
                  <c:v>Did not purchase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20</c:v>
                </c:pt>
                <c:pt idx="1">
                  <c:v>80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B2A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 Basics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Events  •  Coin &amp; Dice Problems  •  Conditional Probability  •  Probability in Machine Learning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25196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3891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measures how likely an event is to happen, on a scale from 0 (impossible) to 1 (certain).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Probability?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 of how likely an event is to happen — always between 0 and 1.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0789920" cy="502920"/>
          </a:xfrm>
          <a:prstGeom prst="roundRect">
            <a:avLst>
              <a:gd name="adj" fmla="val 14545"/>
            </a:avLst>
          </a:prstGeom>
          <a:solidFill>
            <a:srgbClr val="C0392B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0" y="1783080"/>
            <a:ext cx="4023360" cy="502920"/>
          </a:xfrm>
          <a:prstGeom prst="rect">
            <a:avLst/>
          </a:prstGeom>
          <a:solidFill>
            <a:srgbClr val="D98E1C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1783080"/>
            <a:ext cx="3474720" cy="502920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26334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9204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26334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chance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24128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0" y="26334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30352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3649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Expressed as a Percentage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388620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EAF2F6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886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3886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4544568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5445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0" y="45445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5202936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EAF2F6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20293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0" y="520293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26480" y="3200400"/>
            <a:ext cx="5486400" cy="2880360"/>
          </a:xfrm>
          <a:prstGeom prst="roundRect">
            <a:avLst>
              <a:gd name="adj" fmla="val 3175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3649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 — Weather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400800" y="388620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21295C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38862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rain tomorrow = 0.70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0" y="48006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there is a 70% chance of rain — it does not mean it will rain for 70% of the day.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Basic Probability Formula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P(A)  =  Number of favorable outcomes  ÷  Total number of possible outcomes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Rolling a Dice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probability of getting an even number?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38328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E5EBEE"/>
          </a:solidFill>
          <a:ln w="19050">
            <a:solidFill>
              <a:srgbClr val="D7E4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83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783080" y="338328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1F9D55"/>
          </a:solidFill>
          <a:ln w="19050">
            <a:solidFill>
              <a:srgbClr val="1F9D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3383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743200" y="338328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E5EBEE"/>
          </a:solidFill>
          <a:ln w="19050">
            <a:solidFill>
              <a:srgbClr val="D7E4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3383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703320" y="338328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1F9D55"/>
          </a:solidFill>
          <a:ln w="19050">
            <a:solidFill>
              <a:srgbClr val="1F9D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3383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663440" y="338328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E5EBEE"/>
          </a:solidFill>
          <a:ln w="19050">
            <a:solidFill>
              <a:srgbClr val="D7E4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383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623560" y="3383280"/>
            <a:ext cx="777240" cy="777240"/>
          </a:xfrm>
          <a:prstGeom prst="roundRect">
            <a:avLst>
              <a:gd name="adj" fmla="val 14118"/>
            </a:avLst>
          </a:prstGeom>
          <a:solidFill>
            <a:srgbClr val="1F9D55"/>
          </a:solidFill>
          <a:ln w="19050">
            <a:solidFill>
              <a:srgbClr val="1F9D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3383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448056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6634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Favorable outcomes: 2, 4, 6 → 3 outcomes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outcomes: 1–6 → 6 outcomes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4480560"/>
            <a:ext cx="5486400" cy="1645920"/>
          </a:xfrm>
          <a:prstGeom prst="roundRect">
            <a:avLst>
              <a:gd name="adj" fmla="val 5556"/>
            </a:avLst>
          </a:prstGeom>
          <a:solidFill>
            <a:srgbClr val="1F9D5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46634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P(Even) = 3 ÷ 6 = 0.5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00800" y="5257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50%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vs Event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possible result of an experiment.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2926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Tossing a Coin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291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space:  S = {H, T}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3749040"/>
            <a:ext cx="4754880" cy="548640"/>
          </a:xfrm>
          <a:prstGeom prst="roundRect">
            <a:avLst>
              <a:gd name="adj" fmla="val 10000"/>
            </a:avLst>
          </a:prstGeom>
          <a:solidFill>
            <a:srgbClr val="EAF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7490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toss a coin and get Head → Head is the outcome.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457200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5720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remember: Outcome = one possible result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417320"/>
            <a:ext cx="5440680" cy="4709160"/>
          </a:xfrm>
          <a:prstGeom prst="roundRect">
            <a:avLst>
              <a:gd name="adj" fmla="val 1942"/>
            </a:avLst>
          </a:prstGeom>
          <a:solidFill>
            <a:srgbClr val="065A82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1691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78040" y="17373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92240" y="233172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one or more outcomes that we are interested in.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92240" y="3017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Rolling a Dice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3383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Event: getting an even number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92240" y="3840480"/>
            <a:ext cx="4754880" cy="54864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38404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contains outcomes:  {2, 4, 6}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92240" y="466344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46634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remember: Event = one or more outcomes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Coin Toss Probability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0352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Coin Toss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outcomes: H, 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371600" y="251460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5146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200400" y="251460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25146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= 1/2 = 50%       P(T) = 1/2 = 50%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297680"/>
            <a:ext cx="4754880" cy="1600200"/>
          </a:xfrm>
          <a:prstGeom prst="roundRect">
            <a:avLst>
              <a:gd name="adj" fmla="val 4000"/>
            </a:avLst>
          </a:prstGeom>
          <a:solidFill>
            <a:srgbClr val="EAF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4348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Activity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" y="475488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the probability of getting Head?  →  50%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the probability of getting Tail?  →  50%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Coin Tosses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400800" y="20574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possible outcomes: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2423160"/>
            <a:ext cx="2331720" cy="548640"/>
          </a:xfrm>
          <a:prstGeom prst="roundRect">
            <a:avLst>
              <a:gd name="adj" fmla="val 10000"/>
            </a:avLst>
          </a:prstGeom>
          <a:solidFill>
            <a:srgbClr val="1F9D55"/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423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961120" y="2423160"/>
            <a:ext cx="2331720" cy="548640"/>
          </a:xfrm>
          <a:prstGeom prst="roundRect">
            <a:avLst>
              <a:gd name="adj" fmla="val 10000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0" y="24231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0" y="3108960"/>
            <a:ext cx="2331720" cy="548640"/>
          </a:xfrm>
          <a:prstGeom prst="roundRect">
            <a:avLst>
              <a:gd name="adj" fmla="val 10000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1089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961120" y="3108960"/>
            <a:ext cx="2331720" cy="548640"/>
          </a:xfrm>
          <a:prstGeom prst="roundRect">
            <a:avLst>
              <a:gd name="adj" fmla="val 10000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0" y="31089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0" y="4114800"/>
            <a:ext cx="4937760" cy="685800"/>
          </a:xfrm>
          <a:prstGeom prst="roundRect">
            <a:avLst>
              <a:gd name="adj" fmla="val 8000"/>
            </a:avLst>
          </a:prstGeom>
          <a:solidFill>
            <a:srgbClr val="1F9D55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41148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P(Two Heads) = 1/4 = 25%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0" y="4937760"/>
            <a:ext cx="4937760" cy="685800"/>
          </a:xfrm>
          <a:prstGeom prst="roundRect">
            <a:avLst>
              <a:gd name="adj" fmla="val 8000"/>
            </a:avLst>
          </a:prstGeom>
          <a:solidFill>
            <a:srgbClr val="9FD3E8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49377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P(At Least One Head) = 3/4 = 75%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Dice Probability — Three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P(getting a 6)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5EBE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89888" y="2194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5EBEE"/>
          </a:solidFill>
          <a:ln/>
        </p:spPr>
      </p:sp>
      <p:sp>
        <p:nvSpPr>
          <p:cNvPr id="9" name="Text 7"/>
          <p:cNvSpPr/>
          <p:nvPr/>
        </p:nvSpPr>
        <p:spPr>
          <a:xfrm>
            <a:off x="1389888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56816" y="2194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5EBEE"/>
          </a:solidFill>
          <a:ln/>
        </p:spPr>
      </p:sp>
      <p:sp>
        <p:nvSpPr>
          <p:cNvPr id="11" name="Text 9"/>
          <p:cNvSpPr/>
          <p:nvPr/>
        </p:nvSpPr>
        <p:spPr>
          <a:xfrm>
            <a:off x="1956816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23744" y="2194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5EBEE"/>
          </a:solidFill>
          <a:ln/>
        </p:spPr>
      </p:sp>
      <p:sp>
        <p:nvSpPr>
          <p:cNvPr id="13" name="Text 11"/>
          <p:cNvSpPr/>
          <p:nvPr/>
        </p:nvSpPr>
        <p:spPr>
          <a:xfrm>
            <a:off x="2523744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090672" y="2194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5EBEE"/>
          </a:solidFill>
          <a:ln/>
        </p:spPr>
      </p:sp>
      <p:sp>
        <p:nvSpPr>
          <p:cNvPr id="15" name="Text 13"/>
          <p:cNvSpPr/>
          <p:nvPr/>
        </p:nvSpPr>
        <p:spPr>
          <a:xfrm>
            <a:off x="3090672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0" y="21945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38160" y="1847088"/>
            <a:ext cx="2697480" cy="777240"/>
          </a:xfrm>
          <a:prstGeom prst="roundRect">
            <a:avLst>
              <a:gd name="adj" fmla="val 8235"/>
            </a:avLst>
          </a:prstGeom>
          <a:solidFill>
            <a:srgbClr val="EAF2F6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1847088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1/6 ≈ 16.67%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127248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2644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P(number &gt; 4)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2960" y="3767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5EBEE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767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389888" y="3767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5EBEE"/>
          </a:solidFill>
          <a:ln/>
        </p:spPr>
      </p:sp>
      <p:sp>
        <p:nvSpPr>
          <p:cNvPr id="25" name="Text 23"/>
          <p:cNvSpPr/>
          <p:nvPr/>
        </p:nvSpPr>
        <p:spPr>
          <a:xfrm>
            <a:off x="1389888" y="3767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956816" y="3767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5EBEE"/>
          </a:solidFill>
          <a:ln/>
        </p:spPr>
      </p:sp>
      <p:sp>
        <p:nvSpPr>
          <p:cNvPr id="27" name="Text 25"/>
          <p:cNvSpPr/>
          <p:nvPr/>
        </p:nvSpPr>
        <p:spPr>
          <a:xfrm>
            <a:off x="1956816" y="3767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523744" y="3767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5EBEE"/>
          </a:solidFill>
          <a:ln/>
        </p:spPr>
      </p:sp>
      <p:sp>
        <p:nvSpPr>
          <p:cNvPr id="29" name="Text 27"/>
          <p:cNvSpPr/>
          <p:nvPr/>
        </p:nvSpPr>
        <p:spPr>
          <a:xfrm>
            <a:off x="2523744" y="3767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090672" y="3767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3090672" y="3767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0" y="3767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0" y="3767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138160" y="3419856"/>
            <a:ext cx="2697480" cy="777240"/>
          </a:xfrm>
          <a:prstGeom prst="roundRect">
            <a:avLst>
              <a:gd name="adj" fmla="val 8235"/>
            </a:avLst>
          </a:prstGeom>
          <a:solidFill>
            <a:srgbClr val="EAF2F6"/>
          </a:solidFill>
          <a:ln/>
        </p:spPr>
      </p:sp>
      <p:sp>
        <p:nvSpPr>
          <p:cNvPr id="35" name="Text 33"/>
          <p:cNvSpPr/>
          <p:nvPr/>
        </p:nvSpPr>
        <p:spPr>
          <a:xfrm>
            <a:off x="8138160" y="3419856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2/6 = 33.33%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48640" y="4700016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483717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P(number &lt; 5)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22960" y="53400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1295C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5340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389888" y="53400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1295C"/>
          </a:solidFill>
          <a:ln/>
        </p:spPr>
      </p:sp>
      <p:sp>
        <p:nvSpPr>
          <p:cNvPr id="41" name="Text 39"/>
          <p:cNvSpPr/>
          <p:nvPr/>
        </p:nvSpPr>
        <p:spPr>
          <a:xfrm>
            <a:off x="1389888" y="5340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956816" y="53400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1295C"/>
          </a:solidFill>
          <a:ln/>
        </p:spPr>
      </p:sp>
      <p:sp>
        <p:nvSpPr>
          <p:cNvPr id="43" name="Text 41"/>
          <p:cNvSpPr/>
          <p:nvPr/>
        </p:nvSpPr>
        <p:spPr>
          <a:xfrm>
            <a:off x="1956816" y="5340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523744" y="53400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1295C"/>
          </a:solidFill>
          <a:ln/>
        </p:spPr>
      </p:sp>
      <p:sp>
        <p:nvSpPr>
          <p:cNvPr id="45" name="Text 43"/>
          <p:cNvSpPr/>
          <p:nvPr/>
        </p:nvSpPr>
        <p:spPr>
          <a:xfrm>
            <a:off x="2523744" y="5340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090672" y="53400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5EBEE"/>
          </a:solidFill>
          <a:ln/>
        </p:spPr>
      </p:sp>
      <p:sp>
        <p:nvSpPr>
          <p:cNvPr id="47" name="Text 45"/>
          <p:cNvSpPr/>
          <p:nvPr/>
        </p:nvSpPr>
        <p:spPr>
          <a:xfrm>
            <a:off x="3090672" y="5340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657600" y="53400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5EBEE"/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0" y="5340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8138160" y="4992624"/>
            <a:ext cx="2697480" cy="777240"/>
          </a:xfrm>
          <a:prstGeom prst="roundRect">
            <a:avLst>
              <a:gd name="adj" fmla="val 8235"/>
            </a:avLst>
          </a:prstGeom>
          <a:solidFill>
            <a:srgbClr val="EAF2F6"/>
          </a:solidFill>
          <a:ln/>
        </p:spPr>
      </p:sp>
      <p:sp>
        <p:nvSpPr>
          <p:cNvPr id="51" name="Text 49"/>
          <p:cNvSpPr/>
          <p:nvPr/>
        </p:nvSpPr>
        <p:spPr>
          <a:xfrm>
            <a:off x="8138160" y="4992624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 = 66.67%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 in Business Analytics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store recorded outcomes for 100 visitors.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4937760" cy="1920240"/>
        </p:xfrm>
        <a:graphic>
          <a:graphicData uri="http://schemas.openxmlformats.org/drawingml/2006/table">
            <a:tbl>
              <a:tblPr/>
              <a:tblGrid>
                <a:gridCol w="3108960"/>
                <a:gridCol w="1828800"/>
              </a:tblGrid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not purchase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6035040" y="1600200"/>
          <a:ext cx="29260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16052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21295C"/>
          </a:solidFill>
          <a:ln/>
        </p:spPr>
      </p:sp>
      <p:sp>
        <p:nvSpPr>
          <p:cNvPr id="8" name="Text 4"/>
          <p:cNvSpPr/>
          <p:nvPr/>
        </p:nvSpPr>
        <p:spPr>
          <a:xfrm>
            <a:off x="822960" y="416052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P(Purchase) = 20 ÷ 100 = 0.20 = 20%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530352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EAF2F6"/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530352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there is a 20% probability that a randomly selected visitor makes a purchase — a simple example of probability in business analytics.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 in Machine Learning — Spam Detection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spam classifier outputs a probability for each email, then applies a decision threshold.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035040" cy="283464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 Probability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Spam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9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Spam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1737360"/>
            <a:ext cx="4754880" cy="2834640"/>
          </a:xfrm>
          <a:prstGeom prst="roundRect">
            <a:avLst>
              <a:gd name="adj" fmla="val 3226"/>
            </a:avLst>
          </a:prstGeom>
          <a:solidFill>
            <a:srgbClr val="21295C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0" y="1920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Rule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132320" y="2377440"/>
            <a:ext cx="4206240" cy="502920"/>
          </a:xfrm>
          <a:prstGeom prst="roundRect">
            <a:avLst>
              <a:gd name="adj" fmla="val 9091"/>
            </a:avLst>
          </a:prstGeom>
          <a:solidFill>
            <a:srgbClr val="C0392B">
              <a:alpha val="8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315200" y="2377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≥ 0.50  →  Spam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132320" y="2971800"/>
            <a:ext cx="4206240" cy="502920"/>
          </a:xfrm>
          <a:prstGeom prst="roundRect">
            <a:avLst>
              <a:gd name="adj" fmla="val 9091"/>
            </a:avLst>
          </a:prstGeom>
          <a:solidFill>
            <a:srgbClr val="1F9D55">
              <a:alpha val="8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315200" y="2971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&lt; 0.50  →  Not Spam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132320" y="365760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isn't saying “definitely spam” — it's saying the email has a high probability of being spam, based on learned patterns.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AF2F6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892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" y="52120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is used across ML because models rarely give absolute certainty — they give a likelihood we act on.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Probability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probability of an event happening given that another event has already happened.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0352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4754880" cy="777240"/>
          </a:xfrm>
          <a:prstGeom prst="roundRect">
            <a:avLst>
              <a:gd name="adj" fmla="val 7059"/>
            </a:avLst>
          </a:prstGeom>
          <a:solidFill>
            <a:srgbClr val="EAF2F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 | B) = P(A ∩ B) ÷ P(B)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as: “probability of A given B”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Ad Click → Purchase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11480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probability a customer buys a product, given that they clicked an advertisement?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846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P(B) = 0.50        P(A ∩ B) = 0.30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5257800"/>
            <a:ext cx="4754880" cy="868680"/>
          </a:xfrm>
          <a:prstGeom prst="roundRect">
            <a:avLst>
              <a:gd name="adj" fmla="val 7368"/>
            </a:avLst>
          </a:prstGeom>
          <a:solidFill>
            <a:srgbClr val="1F9D5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2578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 | B) = 0.30 ÷ 0.50 = 0.60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0" y="169164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∩ 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22860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overlap — the part of B where A also happens.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66560" y="3108960"/>
            <a:ext cx="2377440" cy="2377440"/>
          </a:xfrm>
          <a:prstGeom prst="ellipse">
            <a:avLst/>
          </a:prstGeom>
          <a:solidFill>
            <a:srgbClr val="065A82">
              <a:alpha val="65000"/>
            </a:srgbClr>
          </a:solidFill>
          <a:ln w="19050">
            <a:solidFill>
              <a:srgbClr val="9FD3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3108960"/>
            <a:ext cx="2377440" cy="2377440"/>
          </a:xfrm>
          <a:prstGeom prst="ellipse">
            <a:avLst/>
          </a:prstGeom>
          <a:solidFill>
            <a:srgbClr val="1C7293">
              <a:alpha val="65000"/>
            </a:srgbClr>
          </a:solidFill>
          <a:ln w="19050">
            <a:solidFill>
              <a:srgbClr val="9FD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4114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92640" y="4114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0" y="4160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A∩B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8 (CONTINUED)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Probability — Worked 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store recorded purchase behavior for 100 customers.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400800" cy="2377440"/>
        </p:xfrm>
        <a:graphic>
          <a:graphicData uri="http://schemas.openxmlformats.org/drawingml/2006/table">
            <a:tbl>
              <a:tblPr/>
              <a:tblGrid>
                <a:gridCol w="1737360"/>
                <a:gridCol w="1554480"/>
                <a:gridCol w="1737360"/>
                <a:gridCol w="13716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Not Purchase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Clicked 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9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Not Click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1737360"/>
            <a:ext cx="43891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52360" y="1874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52360" y="21945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probability a customer purchased, given they clicked the ad?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52360" y="32004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look at customers who clicked: 50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them, purchased: 30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43434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F9D55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434340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P(Purchased | Clicked) = 30 ÷ 50 = 0.60 = 60%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AF2F6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54864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among customers who clicked the ad, 60% purchased — far more useful than the overall purchase rate.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 Across Machine Learning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035040" cy="420624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</a:tblGrid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of Probability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 of each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 of class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probability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 email is spam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Prediction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 of disease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 user likes an 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Prediction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 of default / failure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600200"/>
            <a:ext cx="4754880" cy="4206240"/>
          </a:xfrm>
          <a:prstGeom prst="roundRect">
            <a:avLst>
              <a:gd name="adj" fmla="val 2174"/>
            </a:avLst>
          </a:prstGeom>
          <a:solidFill>
            <a:srgbClr val="21295C"/>
          </a:solidFill>
          <a:ln/>
        </p:spPr>
      </p:sp>
      <p:sp>
        <p:nvSpPr>
          <p:cNvPr id="6" name="Text 3"/>
          <p:cNvSpPr/>
          <p:nvPr/>
        </p:nvSpPr>
        <p:spPr>
          <a:xfrm>
            <a:off x="7132320" y="1783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Customer Churn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132320" y="21945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Probability ≥ 0.50 → High Risk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132320" y="2651760"/>
            <a:ext cx="4206240" cy="822960"/>
          </a:xfrm>
          <a:prstGeom prst="roundRect">
            <a:avLst>
              <a:gd name="adj" fmla="val 7778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0" y="26517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052560" y="26517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875520" y="26517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132320" y="3657600"/>
            <a:ext cx="4206240" cy="822960"/>
          </a:xfrm>
          <a:prstGeom prst="roundRect">
            <a:avLst>
              <a:gd name="adj" fmla="val 7778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0" y="3657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052560" y="36576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875520" y="36576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E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132320" y="4663440"/>
            <a:ext cx="4206240" cy="822960"/>
          </a:xfrm>
          <a:prstGeom prst="roundRect">
            <a:avLst>
              <a:gd name="adj" fmla="val 7778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0" y="4663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052560" y="46634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875520" y="46634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Practice Problems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00784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007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55448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 coin is tossed once. P(Tail)?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595360" y="1664208"/>
            <a:ext cx="2834640" cy="548640"/>
          </a:xfrm>
          <a:prstGeom prst="roundRect">
            <a:avLst>
              <a:gd name="adj" fmla="val 50000"/>
            </a:avLst>
          </a:prstGeom>
          <a:solidFill>
            <a:srgbClr val="EAF2F6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0" y="166420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 = 50%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48716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63347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334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2487168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dice is rolled once. P(odd number)?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95360" y="2596896"/>
            <a:ext cx="2834640" cy="548640"/>
          </a:xfrm>
          <a:prstGeom prst="roundRect">
            <a:avLst>
              <a:gd name="adj" fmla="val 50000"/>
            </a:avLst>
          </a:prstGeom>
          <a:solidFill>
            <a:srgbClr val="EAF2F6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0" y="259689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3/6 = 50%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41985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56616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566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3419856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dice is rolled once. P(number &gt; 3)?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95360" y="3529584"/>
            <a:ext cx="2834640" cy="548640"/>
          </a:xfrm>
          <a:prstGeom prst="roundRect">
            <a:avLst>
              <a:gd name="adj" fmla="val 50000"/>
            </a:avLst>
          </a:prstGeom>
          <a:solidFill>
            <a:srgbClr val="EAF2F6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0" y="352958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3/6 = 50%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35254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49884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4988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08760" y="4352544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deck has 52 cards. P(drawing an Ace)?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95360" y="4462272"/>
            <a:ext cx="2834640" cy="548640"/>
          </a:xfrm>
          <a:prstGeom prst="roundRect">
            <a:avLst>
              <a:gd name="adj" fmla="val 50000"/>
            </a:avLst>
          </a:prstGeom>
          <a:solidFill>
            <a:srgbClr val="EAF2F6"/>
          </a:solidFill>
          <a:ln/>
        </p:spPr>
      </p:sp>
      <p:sp>
        <p:nvSpPr>
          <p:cNvPr id="27" name="Text 25"/>
          <p:cNvSpPr/>
          <p:nvPr/>
        </p:nvSpPr>
        <p:spPr>
          <a:xfrm>
            <a:off x="8595360" y="446227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4/52 ≈ 7.69%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285232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43153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4315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508760" y="5285232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customers surveyed, 120 satisfied. P(satisfied)?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595360" y="5394960"/>
            <a:ext cx="2834640" cy="548640"/>
          </a:xfrm>
          <a:prstGeom prst="roundRect">
            <a:avLst>
              <a:gd name="adj" fmla="val 50000"/>
            </a:avLst>
          </a:prstGeom>
          <a:solidFill>
            <a:srgbClr val="EAF2F6"/>
          </a:solidFill>
          <a:ln/>
        </p:spPr>
      </p:sp>
      <p:sp>
        <p:nvSpPr>
          <p:cNvPr id="33" name="Text 31"/>
          <p:cNvSpPr/>
          <p:nvPr/>
        </p:nvSpPr>
        <p:spPr>
          <a:xfrm>
            <a:off x="8595360" y="53949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120/200 = 60%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38912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Revision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4480560"/>
        </p:xfrm>
        <a:graphic>
          <a:graphicData uri="http://schemas.openxmlformats.org/drawingml/2006/table">
            <a:tbl>
              <a:tblPr/>
              <a:tblGrid>
                <a:gridCol w="2834640"/>
                <a:gridCol w="4114800"/>
                <a:gridCol w="41148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3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3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3E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Chance of something happening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i="1" dirty="0">
                          <a:solidFill>
                            <a:srgbClr val="9FD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chance of rain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70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possible 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i="1" dirty="0">
                          <a:solidFill>
                            <a:srgbClr val="9FD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Getting 6 on a dice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70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or more outcomes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i="1" dirty="0">
                          <a:solidFill>
                            <a:srgbClr val="9FD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Getting an even number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70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Space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possible outcomes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i="1" dirty="0">
                          <a:solidFill>
                            <a:srgbClr val="9FD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{1,2,3,4,5,6}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70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Probability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 given another event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i="1" dirty="0">
                          <a:solidFill>
                            <a:srgbClr val="9FD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given ad click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70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Probability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Model's estimated likelihood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i="1" dirty="0">
                          <a:solidFill>
                            <a:srgbClr val="9FD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 chance of churn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6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>
                        <a:alpha val="7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2026-08-29T09:28:20Z</dcterms:created>
  <dcterms:modified xsi:type="dcterms:W3CDTF">2026-08-29T09:28:20Z</dcterms:modified>
</cp:coreProperties>
</file>