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Testing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77240" y="3108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Deciding whether a claim is backed by real evidence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p-values to real A/B testing decisions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Notes  ·  Statistics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75520" y="914400"/>
            <a:ext cx="2011680" cy="2011680"/>
          </a:xfrm>
          <a:prstGeom prst="ellipse">
            <a:avLst/>
          </a:prstGeom>
          <a:solidFill>
            <a:srgbClr val="12A59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023360"/>
            <a:ext cx="1280160" cy="1280160"/>
          </a:xfrm>
          <a:prstGeom prst="ellipse">
            <a:avLst/>
          </a:prstGeom>
          <a:solidFill>
            <a:srgbClr val="F2994A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Hypothesis Testing?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sample data to decide whether a claim about a population holds 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005840"/>
          </a:xfrm>
          <a:prstGeom prst="roundRect">
            <a:avLst>
              <a:gd name="adj" fmla="val 9091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0561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A594"/>
                </a:solidFill>
              </a:rPr>
              <a:t>We start with a claim, collect data, and use statistics to decide whether the claim is likely to be true or not.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Real-Life Example: "Our new website increases sales."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4F5F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566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</a:rPr>
              <a:t>Group 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1A2E"/>
                </a:solidFill>
              </a:rPr>
              <a:t>Old website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342900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566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A594"/>
                </a:solidFill>
              </a:rPr>
              <a:t>Group 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09360" y="40690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1A2E"/>
                </a:solidFill>
              </a:rPr>
              <a:t>New website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39496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39496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new website produces significantly higher sales, we may conclude it has an effect.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Hypothesis Testing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vs. Alternative Hypothesis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test starts with two competing claims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H₀ — Null Hypothesis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default assumption: no significant difference or no effect.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4846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38328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new training program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improve employee performance.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303520" cy="3566160"/>
          </a:xfrm>
          <a:prstGeom prst="roundRect">
            <a:avLst>
              <a:gd name="adj" fmla="val 2564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A594"/>
                </a:solidFill>
              </a:rPr>
              <a:t>H₁ — Alternative Hypothesis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want to find evidence for.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0" y="3383280"/>
            <a:ext cx="4754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383280"/>
            <a:ext cx="4389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The new training program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employee performance.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0"/>
          <a:ext cx="11109960" cy="960120"/>
        </p:xfrm>
        <a:graphic>
          <a:graphicData uri="http://schemas.openxmlformats.org/drawingml/2006/table">
            <a:tbl>
              <a:tblPr/>
              <a:tblGrid>
                <a:gridCol w="2743200"/>
                <a:gridCol w="8366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Hypothesis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H₀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 effect / No difference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2A594"/>
                          </a:solidFill>
                        </a:rPr>
                        <a:t>H₁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A594"/>
                          </a:solidFill>
                        </a:rPr>
                        <a:t>Effect / Difference exists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Hypothesis Testing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Example: Marketing Campaign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2% lift real, or just random chance?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15600" cy="155448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Advertisement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Viewers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Purchases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Conversion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Old Ad – 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1,000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5%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A594"/>
                          </a:solidFill>
                        </a:rPr>
                        <a:t>New Ad – B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1,000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A594"/>
                          </a:solidFill>
                        </a:rPr>
                        <a:t>7%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66160"/>
            <a:ext cx="11109960" cy="1097280"/>
          </a:xfrm>
          <a:prstGeom prst="roundRect">
            <a:avLst>
              <a:gd name="adj" fmla="val 8333"/>
            </a:avLst>
          </a:prstGeom>
          <a:solidFill>
            <a:srgbClr val="F4F5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3566160"/>
            <a:ext cx="10561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first glance, the new ad looks better — but is the 2% difference real, or could it have happened by random chance?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846320"/>
            <a:ext cx="11109960" cy="1188720"/>
          </a:xfrm>
          <a:prstGeom prst="roundRect">
            <a:avLst>
              <a:gd name="adj" fmla="val 7692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846320"/>
            <a:ext cx="10561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exactly where hypothesis testing comes in.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Hypothesis Testing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Hypotheses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advertisement conversion-rate test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80160" y="2011680"/>
            <a:ext cx="9601200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01168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280"/>
                </a:solidFill>
              </a:rPr>
              <a:t>H₀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108960" y="201168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and new advertisements have the same conversion rate.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3657600"/>
            <a:ext cx="9601200" cy="1463040"/>
          </a:xfrm>
          <a:prstGeom prst="roundRect">
            <a:avLst>
              <a:gd name="adj" fmla="val 6250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365760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A594"/>
                </a:solidFill>
              </a:rPr>
              <a:t>H₁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108960" y="365760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advertisement has a different conversion rate.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80"/>
                </a:solidFill>
              </a:rPr>
              <a:t>We then perform a statistical test to check which hypothesis the evidence supports.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Hypothesis Testing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p-value?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unusual would our result be if H₀ were actually true?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CEA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p-value &lt; 0.05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D5D"/>
                </a:solidFill>
              </a:rPr>
              <a:t>Reject H₀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A1A2E"/>
                </a:solidFill>
              </a:rPr>
              <a:t>Strong enough evidence against the null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745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p-value ≥ 0.05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309360" y="2468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A594"/>
                </a:solidFill>
              </a:rPr>
              <a:t>Fail to Reject H₀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A1A2E"/>
                </a:solidFill>
              </a:rPr>
              <a:t>Not enough evidence against the null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109960" cy="1965960"/>
        </p:xfrm>
        <a:graphic>
          <a:graphicData uri="http://schemas.openxmlformats.org/drawingml/2006/table">
            <a:tbl>
              <a:tblPr/>
              <a:tblGrid>
                <a:gridCol w="3703320"/>
                <a:gridCol w="3703320"/>
                <a:gridCol w="3703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Decision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5D5D"/>
                          </a:solidFill>
                        </a:rPr>
                        <a:t>Reject H₀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Strong evidence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5D5D"/>
                          </a:solidFill>
                        </a:rPr>
                        <a:t>Reject H₀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Significant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A594"/>
                          </a:solidFill>
                        </a:rPr>
                        <a:t>Fail to reject H₀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Not enough evidence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A594"/>
                          </a:solidFill>
                        </a:rPr>
                        <a:t>Fail to reject H₀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Very little evidence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80644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4F5F9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5806440"/>
            <a:ext cx="10561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"Fail to reject H₀" — not "Accept H₀." We never prove H₀ true; we just lack evidence against it.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Hypothesis Testing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Example: Employee Productivity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employees, before vs after a new software tool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Baseline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average productivity = 50 units/day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52, 55, 49, 58, 54, 51, 56, 53, 57, 55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74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Step 1: Sample Mean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4688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= 54 units/day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3154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(52+55+49+58+54+51+56+53+57+55)/10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Step 2: Create Hypotheses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4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348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H₀:  μ = 50</a:t>
            </a:r>
            <a:endParaRPr lang="en-US" sz="13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productivity is still 50 units/day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443484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E8F8F5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44348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H₁:  μ ≠ 50</a:t>
            </a:r>
            <a:endParaRPr lang="en-US" sz="13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productivity is different from 50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Hypothesis Testing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Perform the Statistical Test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one-sample t-test — small sample, population SD unknown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309360" cy="4206240"/>
          </a:xfrm>
          <a:prstGeom prst="roundRect">
            <a:avLst>
              <a:gd name="adj" fmla="val 1739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47088"/>
            <a:ext cx="5852160" cy="398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scipy.stats import ttest_1samp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productivity = np.array([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52, 55, 49, 58, 54,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51, 56, 53, 57, 55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t_stat, p_value = ttest_1samp(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productivity, 50)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print("Mean:", productivity.mean())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print("t-statistic:", t_stat)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print("p-value:", p_value)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p_value &lt; 0.05: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print("Reject H0")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print("Fail to reject H0")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086600" y="1737360"/>
            <a:ext cx="4526280" cy="2011680"/>
          </a:xfrm>
          <a:prstGeom prst="roundRect">
            <a:avLst>
              <a:gd name="adj" fmla="val 4545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0" y="18745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Result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86600" y="228600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p-value ≈ 0.0015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86600" y="288036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0.0015 &lt; 0.05  →  Reject H₀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86600" y="3931920"/>
            <a:ext cx="4526280" cy="2011680"/>
          </a:xfrm>
          <a:prstGeom prst="roundRect">
            <a:avLst>
              <a:gd name="adj" fmla="val 4545"/>
            </a:avLst>
          </a:prstGeom>
          <a:solidFill>
            <a:srgbClr val="F4F5F9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40690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</a:rPr>
              <a:t>Business Conclusion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0" y="4480560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Statistically significant evidence that productivity is different from 50 — sample mean of 54 suggests it increased.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Hypothesis Testing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testing applied to websites, marketing, and product design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108960" y="1737360"/>
            <a:ext cx="5943600" cy="640080"/>
          </a:xfrm>
          <a:prstGeom prst="roundRect">
            <a:avLst>
              <a:gd name="adj" fmla="val 11429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3108960" y="17373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Website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283464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4F5F9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29718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Version 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</a:rPr>
              <a:t>Old Button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3931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 conversion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0" y="283464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9718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A594"/>
                </a:solidFill>
              </a:rPr>
              <a:t>Version 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</a:rPr>
              <a:t>New Button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3931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7% conversion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109960" cy="1554480"/>
          </a:xfrm>
          <a:prstGeom prst="roundRect">
            <a:avLst>
              <a:gd name="adj" fmla="val 5882"/>
            </a:avLst>
          </a:prstGeom>
          <a:solidFill>
            <a:srgbClr val="F4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892040"/>
            <a:ext cx="10561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compares two versions and uses hypothesis testing to decide whether the difference is statistically real.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Hypothesis Testing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Example: "Buy Now" Button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15600" cy="155448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Visitors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Purchases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Conversion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A – Old button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1,000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5%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A594"/>
                          </a:solidFill>
                        </a:rPr>
                        <a:t>B – New button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1,000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A594"/>
                          </a:solidFill>
                        </a:rPr>
                        <a:t>7%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61188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4F5F9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749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Hypotheses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H₀: Both buttons have the same conversion rate.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H₁: The conversion rates are different.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09360" y="361188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37947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p-value = 0.03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309360" y="4389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 &lt; 0.05 → Reject H₀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53212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532120"/>
            <a:ext cx="10561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button has a statistically significant difference in conversion rate — the company has evidence the new design performs differently.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Hypothesis Testing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Testing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 process to remember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017520" y="1691640"/>
            <a:ext cx="6217920" cy="502920"/>
          </a:xfrm>
          <a:prstGeom prst="roundRect">
            <a:avLst>
              <a:gd name="adj" fmla="val 14545"/>
            </a:avLst>
          </a:prstGeom>
          <a:solidFill>
            <a:srgbClr val="F4F5F9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0" y="16916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Define Business Question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0" y="2176272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2286000"/>
            <a:ext cx="6217920" cy="502920"/>
          </a:xfrm>
          <a:prstGeom prst="roundRect">
            <a:avLst>
              <a:gd name="adj" fmla="val 14545"/>
            </a:avLst>
          </a:prstGeom>
          <a:solidFill>
            <a:srgbClr val="F4F5F9"/>
          </a:solidFill>
          <a:ln w="15240">
            <a:solidFill>
              <a:srgbClr val="2E319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228600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Create H₀ and H₁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2770632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0" y="2880360"/>
            <a:ext cx="6217920" cy="502920"/>
          </a:xfrm>
          <a:prstGeom prst="roundRect">
            <a:avLst>
              <a:gd name="adj" fmla="val 14545"/>
            </a:avLst>
          </a:prstGeom>
          <a:solidFill>
            <a:srgbClr val="F4F5F9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88036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Collect Sample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0" y="3364992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17520" y="3474720"/>
            <a:ext cx="6217920" cy="502920"/>
          </a:xfrm>
          <a:prstGeom prst="roundRect">
            <a:avLst>
              <a:gd name="adj" fmla="val 14545"/>
            </a:avLst>
          </a:prstGeom>
          <a:solidFill>
            <a:srgbClr val="F4F5F9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4747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94A"/>
                </a:solidFill>
              </a:rPr>
              <a:t>Select Statistical Test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3959352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17520" y="4069080"/>
            <a:ext cx="6217920" cy="502920"/>
          </a:xfrm>
          <a:prstGeom prst="roundRect">
            <a:avLst>
              <a:gd name="adj" fmla="val 14545"/>
            </a:avLst>
          </a:prstGeom>
          <a:solidFill>
            <a:srgbClr val="F4F5F9"/>
          </a:solidFill>
          <a:ln w="1524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40690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</a:rPr>
              <a:t>Calculate p-value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0" y="4553712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17520" y="4663440"/>
            <a:ext cx="6217920" cy="502920"/>
          </a:xfrm>
          <a:prstGeom prst="roundRect">
            <a:avLst>
              <a:gd name="adj" fmla="val 14545"/>
            </a:avLst>
          </a:prstGeom>
          <a:solidFill>
            <a:srgbClr val="F4F5F9"/>
          </a:solidFill>
          <a:ln w="1524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46634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Compare p-value with 0.05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280160" y="5257800"/>
            <a:ext cx="4572000" cy="1188720"/>
          </a:xfrm>
          <a:prstGeom prst="roundRect">
            <a:avLst>
              <a:gd name="adj" fmla="val 7692"/>
            </a:avLst>
          </a:prstGeom>
          <a:solidFill>
            <a:srgbClr val="FCEAEA"/>
          </a:solidFill>
          <a:ln w="16510">
            <a:solidFill>
              <a:srgbClr val="E85D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52578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&lt; 0.05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H₀ — Evidence of significant difference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5257800"/>
            <a:ext cx="4572000" cy="1188720"/>
          </a:xfrm>
          <a:prstGeom prst="roundRect">
            <a:avLst>
              <a:gd name="adj" fmla="val 7692"/>
            </a:avLst>
          </a:prstGeom>
          <a:solidFill>
            <a:srgbClr val="E8F8F5"/>
          </a:solidFill>
          <a:ln w="16510">
            <a:solidFill>
              <a:srgbClr val="12A5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52578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≥ 0.05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to Reject H₀ — Not enough evidence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Hypothesis Testing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Use Cases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92840" cy="4572000"/>
        </p:xfrm>
        <a:graphic>
          <a:graphicData uri="http://schemas.openxmlformats.org/drawingml/2006/table">
            <a:tbl>
              <a:tblPr/>
              <a:tblGrid>
                <a:gridCol w="4572000"/>
                <a:gridCol w="333756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Business Problem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H₀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H₁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New ad increases sales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No increase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Sales increase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New website improves conversion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No difference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Conversion changes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New medicine reduces recovery time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No improvement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Improvement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New training improves performance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No improvement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Improvement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New packaging increases purchases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No difference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Difference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New pricing increases revenue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No effect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Revenue changes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Hypothesis Testing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Example for Students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restaurant claims average delivery time is 30 minutes; 20 orders average 27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01952"/>
            <a:ext cx="457200" cy="45720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84708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H₀?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60720" y="184708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delivery time = 30 minutes.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4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044952"/>
            <a:ext cx="457200" cy="45720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44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99008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H₁?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760720" y="299008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delivery time ≠ 30 minutes.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4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187952"/>
            <a:ext cx="457200" cy="45720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413308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 = 0.02 — what do you do?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760720" y="413308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 &lt; 0.05 (α)  →  Reject H₀.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4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5330952"/>
            <a:ext cx="457200" cy="45720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527608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interpretation?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760720" y="527608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Sufficient statistical evidence the average delivery time differs from 30 minutes.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Hypothesis Testing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 to Remember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91440" cy="658368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testing → testing a claim using sample data.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50008"/>
            <a:ext cx="91440" cy="65836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5000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H₀ (Null) → no effect / no difference.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99816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099816"/>
            <a:ext cx="91440" cy="658368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99816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H₁ (Alternative) → effect / difference exists.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49624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49624"/>
            <a:ext cx="91440" cy="658368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49624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 → measures evidence against H₀.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599432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599432"/>
            <a:ext cx="91440" cy="65836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99432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&lt; 0.05 → usually reject H₀.  p ≥ 0.05 → fail to reject H₀.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5349240"/>
            <a:ext cx="91440" cy="658368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4924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say "H₀ is proven true" — only "fail to reject."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6099048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6099048"/>
            <a:ext cx="91440" cy="65836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609904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is a common business application of hypothesis testing.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Hypothesis Testing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2026-08-24T03:28:04Z</dcterms:created>
  <dcterms:modified xsi:type="dcterms:W3CDTF">2026-08-24T03:28:04Z</dcterms:modified>
</cp:coreProperties>
</file>