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916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Skewness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77240" y="33832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8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average doesn't always tell the whole story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Notes  ·  Statistics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875520" y="914400"/>
            <a:ext cx="2011680" cy="2011680"/>
          </a:xfrm>
          <a:prstGeom prst="ellipse">
            <a:avLst/>
          </a:prstGeom>
          <a:solidFill>
            <a:srgbClr val="12A594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4023360"/>
            <a:ext cx="1280160" cy="1280160"/>
          </a:xfrm>
          <a:prstGeom prst="ellipse">
            <a:avLst/>
          </a:prstGeom>
          <a:solidFill>
            <a:srgbClr val="F2994A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Skewness?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measure of the asymmetry (unevenness) of a data distribution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1280160"/>
          </a:xfrm>
          <a:prstGeom prst="roundRect">
            <a:avLst>
              <a:gd name="adj" fmla="val 7143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</a:rPr>
              <a:t>Symmetrical Distribution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A1A2E"/>
                </a:solidFill>
              </a:rPr>
              <a:t>Evenly distributed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434840" y="1874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994A"/>
                </a:solidFill>
              </a:rPr>
              <a:t>Right (Positive) Skewed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34840" y="23774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A1A2E"/>
                </a:solidFill>
              </a:rPr>
              <a:t>Longer tail on the right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0" y="1874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3192"/>
                </a:solidFill>
              </a:rPr>
              <a:t>Left (Negative) Skewed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0" y="23774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A1A2E"/>
                </a:solidFill>
              </a:rPr>
              <a:t>Longer tail on the left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Why Is It Important?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11109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understand how data is distributed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Indicates whether extreme values (outliers) affect the average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in finance, salary analysis, customer spending, exam scores, and business analytics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Understanding Skewness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Symmetrical Distribution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sides of the distribution are equal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Characteristics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= Median = Mode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skewness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Bell-shaped curve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Student Marks Example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55, 60, 65, 70, 75, 80, 85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" y="498348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EEF0FA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9834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3192"/>
                </a:solidFill>
              </a:rPr>
              <a:t>Mean = 70   Median = 70   Mode = none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73736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4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8745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Bell-Shaped Curve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 flipV="1">
            <a:off x="6675120" y="5212080"/>
            <a:ext cx="548640" cy="182880"/>
          </a:xfrm>
          <a:prstGeom prst="line">
            <a:avLst/>
          </a:prstGeom>
          <a:noFill/>
          <a:ln w="38100">
            <a:solidFill>
              <a:srgbClr val="12A59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7223760" y="4572000"/>
            <a:ext cx="548640" cy="640080"/>
          </a:xfrm>
          <a:prstGeom prst="line">
            <a:avLst/>
          </a:prstGeom>
          <a:noFill/>
          <a:ln w="38100">
            <a:solidFill>
              <a:srgbClr val="12A59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7772400" y="3383280"/>
            <a:ext cx="548640" cy="1188720"/>
          </a:xfrm>
          <a:prstGeom prst="line">
            <a:avLst/>
          </a:prstGeom>
          <a:noFill/>
          <a:ln w="38100">
            <a:solidFill>
              <a:srgbClr val="12A59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8321040" y="2743200"/>
            <a:ext cx="548640" cy="640080"/>
          </a:xfrm>
          <a:prstGeom prst="line">
            <a:avLst/>
          </a:prstGeom>
          <a:noFill/>
          <a:ln w="38100">
            <a:solidFill>
              <a:srgbClr val="12A59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0" y="2743200"/>
            <a:ext cx="548640" cy="640080"/>
          </a:xfrm>
          <a:prstGeom prst="line">
            <a:avLst/>
          </a:prstGeom>
          <a:noFill/>
          <a:ln w="38100">
            <a:solidFill>
              <a:srgbClr val="12A59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8320" y="3383280"/>
            <a:ext cx="548640" cy="1188720"/>
          </a:xfrm>
          <a:prstGeom prst="line">
            <a:avLst/>
          </a:prstGeom>
          <a:noFill/>
          <a:ln w="38100">
            <a:solidFill>
              <a:srgbClr val="12A5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4572000"/>
            <a:ext cx="548640" cy="640080"/>
          </a:xfrm>
          <a:prstGeom prst="line">
            <a:avLst/>
          </a:prstGeom>
          <a:noFill/>
          <a:ln w="38100">
            <a:solidFill>
              <a:srgbClr val="12A59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0" y="5212080"/>
            <a:ext cx="548640" cy="182880"/>
          </a:xfrm>
          <a:prstGeom prst="line">
            <a:avLst/>
          </a:prstGeom>
          <a:noFill/>
          <a:ln w="38100">
            <a:solidFill>
              <a:srgbClr val="12A59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51392" y="2743200"/>
            <a:ext cx="0" cy="265176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863840" y="5486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A594"/>
                </a:solidFill>
              </a:rPr>
              <a:t>Mean = Median = Mode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Understanding Skewness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Right Skewed (Positive Skew)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is longer on the right — usually caused by large outliers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6E5"/>
          </a:solidFill>
          <a:ln w="15240">
            <a:solidFill>
              <a:srgbClr val="F299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9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&gt; Median &gt; Mode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Real-Life Examples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20624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FFF6E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994A"/>
                </a:solidFill>
              </a:rPr>
              <a:t>Salary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420624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FFF6E5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994A"/>
                </a:solidFill>
              </a:rPr>
              <a:t>House prices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80060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FFF6E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800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994A"/>
                </a:solidFill>
              </a:rPr>
              <a:t>Income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480060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FFF6E5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4800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994A"/>
                </a:solidFill>
              </a:rPr>
              <a:t>Business profits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73736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4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8745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Right Skew Shape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 flipV="1">
            <a:off x="6583680" y="4846320"/>
            <a:ext cx="365760" cy="548640"/>
          </a:xfrm>
          <a:prstGeom prst="line">
            <a:avLst/>
          </a:prstGeom>
          <a:noFill/>
          <a:ln w="38100">
            <a:solidFill>
              <a:srgbClr val="F299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6949440" y="3840480"/>
            <a:ext cx="365760" cy="1005840"/>
          </a:xfrm>
          <a:prstGeom prst="line">
            <a:avLst/>
          </a:prstGeom>
          <a:noFill/>
          <a:ln w="38100">
            <a:solidFill>
              <a:srgbClr val="F299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7315200" y="3017520"/>
            <a:ext cx="365760" cy="822960"/>
          </a:xfrm>
          <a:prstGeom prst="line">
            <a:avLst/>
          </a:prstGeom>
          <a:noFill/>
          <a:ln w="38100">
            <a:solidFill>
              <a:srgbClr val="F299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7680960" y="2743200"/>
            <a:ext cx="365760" cy="274320"/>
          </a:xfrm>
          <a:prstGeom prst="line">
            <a:avLst/>
          </a:prstGeom>
          <a:noFill/>
          <a:ln w="38100">
            <a:solidFill>
              <a:srgbClr val="F299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2743200"/>
            <a:ext cx="457200" cy="365760"/>
          </a:xfrm>
          <a:prstGeom prst="line">
            <a:avLst/>
          </a:prstGeom>
          <a:noFill/>
          <a:ln w="38100">
            <a:solidFill>
              <a:srgbClr val="F299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03920" y="3108960"/>
            <a:ext cx="548640" cy="548640"/>
          </a:xfrm>
          <a:prstGeom prst="line">
            <a:avLst/>
          </a:prstGeom>
          <a:noFill/>
          <a:ln w="38100">
            <a:solidFill>
              <a:srgbClr val="F299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0" y="3657600"/>
            <a:ext cx="640080" cy="548640"/>
          </a:xfrm>
          <a:prstGeom prst="line">
            <a:avLst/>
          </a:prstGeom>
          <a:noFill/>
          <a:ln w="38100">
            <a:solidFill>
              <a:srgbClr val="F299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0" y="4206240"/>
            <a:ext cx="640080" cy="457200"/>
          </a:xfrm>
          <a:prstGeom prst="line">
            <a:avLst/>
          </a:prstGeom>
          <a:noFill/>
          <a:ln w="38100">
            <a:solidFill>
              <a:srgbClr val="F299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32720" y="4663440"/>
            <a:ext cx="640080" cy="365760"/>
          </a:xfrm>
          <a:prstGeom prst="line">
            <a:avLst/>
          </a:prstGeom>
          <a:noFill/>
          <a:ln w="38100">
            <a:solidFill>
              <a:srgbClr val="F299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743200"/>
            <a:ext cx="0" cy="265176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7360920" y="5486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Mode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83880" y="2743200"/>
            <a:ext cx="0" cy="265176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7726680" y="5486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Median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95360" y="2743200"/>
            <a:ext cx="0" cy="265176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8138160" y="5486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Mean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92640" y="5120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2994A"/>
                </a:solidFill>
              </a:rPr>
              <a:t>long tail →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Understanding Skewness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Skew: Employee Salary Dataset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extremely high salary pulls the average upward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4572000" cy="466344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Employee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Salary (₹)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E1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25,000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E2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27,000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E3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28,000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E4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29,000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E5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30,000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E6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31,000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E7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32,000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E8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35,000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E9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40,000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5D5D"/>
                          </a:solidFill>
                        </a:rPr>
                        <a:t>E10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5D5D"/>
                          </a:solidFill>
                        </a:rPr>
                        <a:t>2,00,000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40680" y="1737360"/>
            <a:ext cx="6172200" cy="2103120"/>
          </a:xfrm>
          <a:prstGeom prst="roundRect">
            <a:avLst>
              <a:gd name="adj" fmla="val 4348"/>
            </a:avLst>
          </a:prstGeom>
          <a:solidFill>
            <a:srgbClr val="F4F5F9"/>
          </a:solidFill>
          <a:ln/>
        </p:spPr>
      </p:sp>
      <p:sp>
        <p:nvSpPr>
          <p:cNvPr id="6" name="Text 3"/>
          <p:cNvSpPr/>
          <p:nvPr/>
        </p:nvSpPr>
        <p:spPr>
          <a:xfrm>
            <a:off x="5440680" y="1874520"/>
            <a:ext cx="6172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Observation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715000" y="2331720"/>
            <a:ext cx="5623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employees earn between ₹25,000–₹40,000, but one manager earns ₹2,00,000.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40680" y="4023360"/>
            <a:ext cx="6172200" cy="2377440"/>
          </a:xfrm>
          <a:prstGeom prst="roundRect">
            <a:avLst>
              <a:gd name="adj" fmla="val 3846"/>
            </a:avLst>
          </a:prstGeom>
          <a:solidFill>
            <a:srgbClr val="FFF6E5"/>
          </a:solidFill>
          <a:ln w="15240">
            <a:solidFill>
              <a:srgbClr val="F299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40680" y="4160520"/>
            <a:ext cx="6172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994A"/>
                </a:solidFill>
              </a:rPr>
              <a:t>Because of this high salary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760720" y="4572000"/>
            <a:ext cx="5577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increases significantly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stays around ₹30,500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becomes right skewed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Understanding Skewness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Skew: Monthly Customer Purchases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large purchase distorts the average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4572000" cy="466344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Customer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Purchase (₹)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700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800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900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1,100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1,200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1,500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2,000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5D5D"/>
                          </a:solidFill>
                        </a:rPr>
                        <a:t>10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5D5D"/>
                          </a:solidFill>
                        </a:rPr>
                        <a:t>12,000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40680" y="1737360"/>
            <a:ext cx="6172200" cy="2103120"/>
          </a:xfrm>
          <a:prstGeom prst="roundRect">
            <a:avLst>
              <a:gd name="adj" fmla="val 4348"/>
            </a:avLst>
          </a:prstGeom>
          <a:solidFill>
            <a:srgbClr val="F4F5F9"/>
          </a:solidFill>
          <a:ln/>
        </p:spPr>
      </p:sp>
      <p:sp>
        <p:nvSpPr>
          <p:cNvPr id="6" name="Text 3"/>
          <p:cNvSpPr/>
          <p:nvPr/>
        </p:nvSpPr>
        <p:spPr>
          <a:xfrm>
            <a:off x="5440680" y="1874520"/>
            <a:ext cx="6172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Observation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715000" y="2331720"/>
            <a:ext cx="5623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customers spend less than ₹2,000. One customer spends ₹12,000.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40680" y="4023360"/>
            <a:ext cx="6172200" cy="2377440"/>
          </a:xfrm>
          <a:prstGeom prst="roundRect">
            <a:avLst>
              <a:gd name="adj" fmla="val 3846"/>
            </a:avLst>
          </a:prstGeom>
          <a:solidFill>
            <a:srgbClr val="FFF6E5"/>
          </a:solidFill>
          <a:ln w="15240">
            <a:solidFill>
              <a:srgbClr val="F299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40680" y="4160520"/>
            <a:ext cx="6172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994A"/>
                </a:solidFill>
              </a:rPr>
              <a:t>Result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760720" y="4572000"/>
            <a:ext cx="5577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increases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changes very little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Right-skewed distribution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Understanding Skewness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Left Skewed (Negative Skew)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is longer on the left — usually caused by very small values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 w="15240">
            <a:solidFill>
              <a:srgbClr val="2E319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&lt; Median &lt; Mode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Real-Life Examples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exam marks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satisfaction ratings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quality ratings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4F5F9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8745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Left Skew Shape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flipV="1">
            <a:off x="6583680" y="4663440"/>
            <a:ext cx="640080" cy="365760"/>
          </a:xfrm>
          <a:prstGeom prst="line">
            <a:avLst/>
          </a:prstGeom>
          <a:noFill/>
          <a:ln w="38100">
            <a:solidFill>
              <a:srgbClr val="2E319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7223760" y="4206240"/>
            <a:ext cx="640080" cy="457200"/>
          </a:xfrm>
          <a:prstGeom prst="line">
            <a:avLst/>
          </a:prstGeom>
          <a:noFill/>
          <a:ln w="38100">
            <a:solidFill>
              <a:srgbClr val="2E319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7863840" y="3657600"/>
            <a:ext cx="548640" cy="548640"/>
          </a:xfrm>
          <a:prstGeom prst="line">
            <a:avLst/>
          </a:prstGeom>
          <a:noFill/>
          <a:ln w="38100">
            <a:solidFill>
              <a:srgbClr val="2E319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8412480" y="3108960"/>
            <a:ext cx="548640" cy="548640"/>
          </a:xfrm>
          <a:prstGeom prst="line">
            <a:avLst/>
          </a:prstGeom>
          <a:noFill/>
          <a:ln w="38100">
            <a:solidFill>
              <a:srgbClr val="2E319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8961120" y="2743200"/>
            <a:ext cx="274320" cy="365760"/>
          </a:xfrm>
          <a:prstGeom prst="line">
            <a:avLst/>
          </a:prstGeom>
          <a:noFill/>
          <a:ln w="38100">
            <a:solidFill>
              <a:srgbClr val="2E319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35440" y="2743200"/>
            <a:ext cx="365760" cy="274320"/>
          </a:xfrm>
          <a:prstGeom prst="line">
            <a:avLst/>
          </a:prstGeom>
          <a:noFill/>
          <a:ln w="38100">
            <a:solidFill>
              <a:srgbClr val="2E319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0" y="3017520"/>
            <a:ext cx="365760" cy="822960"/>
          </a:xfrm>
          <a:prstGeom prst="line">
            <a:avLst/>
          </a:prstGeom>
          <a:noFill/>
          <a:ln w="38100">
            <a:solidFill>
              <a:srgbClr val="2E319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66960" y="3840480"/>
            <a:ext cx="365760" cy="1005840"/>
          </a:xfrm>
          <a:prstGeom prst="line">
            <a:avLst/>
          </a:prstGeom>
          <a:noFill/>
          <a:ln w="38100">
            <a:solidFill>
              <a:srgbClr val="2E319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2720" y="4846320"/>
            <a:ext cx="365760" cy="548640"/>
          </a:xfrm>
          <a:prstGeom prst="line">
            <a:avLst/>
          </a:prstGeom>
          <a:noFill/>
          <a:ln w="38100">
            <a:solidFill>
              <a:srgbClr val="2E319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98480" y="5394960"/>
            <a:ext cx="365760" cy="9144"/>
          </a:xfrm>
          <a:prstGeom prst="line">
            <a:avLst/>
          </a:prstGeom>
          <a:noFill/>
          <a:ln w="38100">
            <a:solidFill>
              <a:srgbClr val="2E319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0" y="2743200"/>
            <a:ext cx="0" cy="265176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8321040" y="5486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Mean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0" y="2743200"/>
            <a:ext cx="0" cy="265176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8686800" y="5486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Median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509760" y="2743200"/>
            <a:ext cx="0" cy="265176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9052560" y="5486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Mode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5120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3192"/>
                </a:solidFill>
              </a:rPr>
              <a:t>← long tail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Understanding Skewness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Skew: Easy Exam Marks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everyone scored high — only one student scored very low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4572000" cy="466344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Student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5D5D"/>
                          </a:solidFill>
                        </a:rPr>
                        <a:t>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5D5D"/>
                          </a:solidFill>
                        </a:rPr>
                        <a:t>15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80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82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84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85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F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86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88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90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I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92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J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95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40680" y="1737360"/>
            <a:ext cx="6172200" cy="2103120"/>
          </a:xfrm>
          <a:prstGeom prst="roundRect">
            <a:avLst>
              <a:gd name="adj" fmla="val 4348"/>
            </a:avLst>
          </a:prstGeom>
          <a:solidFill>
            <a:srgbClr val="F4F5F9"/>
          </a:solidFill>
          <a:ln/>
        </p:spPr>
      </p:sp>
      <p:sp>
        <p:nvSpPr>
          <p:cNvPr id="6" name="Text 3"/>
          <p:cNvSpPr/>
          <p:nvPr/>
        </p:nvSpPr>
        <p:spPr>
          <a:xfrm>
            <a:off x="5440680" y="1874520"/>
            <a:ext cx="6172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Observation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715000" y="2331720"/>
            <a:ext cx="5623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everyone scored high. Only one student scored very low.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40680" y="4023360"/>
            <a:ext cx="6172200" cy="2377440"/>
          </a:xfrm>
          <a:prstGeom prst="roundRect">
            <a:avLst>
              <a:gd name="adj" fmla="val 3846"/>
            </a:avLst>
          </a:prstGeom>
          <a:solidFill>
            <a:srgbClr val="EEF0FA"/>
          </a:solidFill>
          <a:ln w="15240">
            <a:solidFill>
              <a:srgbClr val="2E319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40680" y="4160520"/>
            <a:ext cx="6172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3192"/>
                </a:solidFill>
              </a:rPr>
              <a:t>Result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760720" y="4572000"/>
            <a:ext cx="5577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decreases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remains high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is left skewed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Understanding Skewness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Skewness Affects Mean &amp; Median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737360"/>
          <a:ext cx="9966960" cy="2194560"/>
        </p:xfrm>
        <a:graphic>
          <a:graphicData uri="http://schemas.openxmlformats.org/drawingml/2006/table">
            <a:tbl>
              <a:tblPr/>
              <a:tblGrid>
                <a:gridCol w="4114800"/>
                <a:gridCol w="5852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Distribution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Relationship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Symmetrical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Mean = Median = Mode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2994A"/>
                          </a:solidFill>
                        </a:rPr>
                        <a:t>Right Skewed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2994A"/>
                          </a:solidFill>
                        </a:rPr>
                        <a:t>Mean &gt; Median &gt; Mode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E3192"/>
                          </a:solidFill>
                        </a:rPr>
                        <a:t>Left Skewed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3192"/>
                          </a:solidFill>
                        </a:rPr>
                        <a:t>Mean &lt; Median &lt; Mode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16052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Practical Comparison</a:t>
            </a:r>
            <a:endParaRPr lang="en-US" sz="15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11109960" cy="1737360"/>
        </p:xfrm>
        <a:graphic>
          <a:graphicData uri="http://schemas.openxmlformats.org/drawingml/2006/table">
            <a:tbl>
              <a:tblPr/>
              <a:tblGrid>
                <a:gridCol w="4572000"/>
                <a:gridCol w="2176272"/>
                <a:gridCol w="2176272"/>
                <a:gridCol w="2185416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Median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Skewness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55,60,65,70,75,80,85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Symmetric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25,27,...,40,200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47.7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30.5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2994A"/>
                          </a:solidFill>
                        </a:rPr>
                        <a:t>Right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15,80,82,...,92,95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79.7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85.5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3192"/>
                          </a:solidFill>
                        </a:rPr>
                        <a:t>Left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Understanding Skewness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Distribution: A Real Business Example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company with 10 employees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394960" cy="2194560"/>
        </p:xfrm>
        <a:graphic>
          <a:graphicData uri="http://schemas.openxmlformats.org/drawingml/2006/table">
            <a:tbl>
              <a:tblPr/>
              <a:tblGrid>
                <a:gridCol w="2697480"/>
                <a:gridCol w="26974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Salary Range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Employees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₹25,000–30,000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₹31,000–40,000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85D5D"/>
                          </a:solidFill>
                        </a:rPr>
                        <a:t>₹2,50,000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85D5D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73736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FF6E5"/>
          </a:solidFill>
          <a:ln w="15240">
            <a:solidFill>
              <a:srgbClr val="F299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09360" y="18745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994A"/>
                </a:solidFill>
              </a:rPr>
              <a:t>Interpretation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629400" y="233172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employees earn low salaries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executive earns much more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average salary becomes higher than what most employees actually earn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37960" y="4572000"/>
            <a:ext cx="4846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6766560" y="457200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median salary is often preferred over mean salary.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1148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4F5F9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411480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employees are clustered in the lower salary bands — one outlier stretches the mean far above what a typical employee earns.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Understanding Skewness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Activity (Excel)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the impact of an outlier yourself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4572000" cy="466344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Employee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Monthly Income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25000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26000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27000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28000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30000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F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31000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32000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34000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I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35000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5D5D"/>
                          </a:solidFill>
                        </a:rPr>
                        <a:t>J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5D5D"/>
                          </a:solidFill>
                        </a:rPr>
                        <a:t>180000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40680" y="1737360"/>
            <a:ext cx="6172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Tasks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40680" y="2148840"/>
            <a:ext cx="617220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0" y="2249424"/>
            <a:ext cx="384048" cy="384048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8" name="Text 5"/>
          <p:cNvSpPr/>
          <p:nvPr/>
        </p:nvSpPr>
        <p:spPr>
          <a:xfrm>
            <a:off x="5577840" y="2249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80760" y="2148840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Mean using =AVERAGE(B2:B11)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40680" y="2898648"/>
            <a:ext cx="617220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/>
        </p:spPr>
      </p:sp>
      <p:sp>
        <p:nvSpPr>
          <p:cNvPr id="11" name="Shape 8"/>
          <p:cNvSpPr/>
          <p:nvPr/>
        </p:nvSpPr>
        <p:spPr>
          <a:xfrm>
            <a:off x="5577840" y="2999232"/>
            <a:ext cx="384048" cy="384048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2" name="Text 9"/>
          <p:cNvSpPr/>
          <p:nvPr/>
        </p:nvSpPr>
        <p:spPr>
          <a:xfrm>
            <a:off x="5577840" y="2999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080760" y="2898648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Median using =MEDIAN(B2:B11)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40680" y="3648456"/>
            <a:ext cx="617220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5577840" y="3749040"/>
            <a:ext cx="384048" cy="384048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6" name="Text 13"/>
          <p:cNvSpPr/>
          <p:nvPr/>
        </p:nvSpPr>
        <p:spPr>
          <a:xfrm>
            <a:off x="557784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080760" y="3648456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Mean and Median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40680" y="4398264"/>
            <a:ext cx="617220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/>
        </p:spPr>
      </p:sp>
      <p:sp>
        <p:nvSpPr>
          <p:cNvPr id="19" name="Shape 16"/>
          <p:cNvSpPr/>
          <p:nvPr/>
        </p:nvSpPr>
        <p:spPr>
          <a:xfrm>
            <a:off x="5577840" y="4498848"/>
            <a:ext cx="384048" cy="384048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20" name="Text 17"/>
          <p:cNvSpPr/>
          <p:nvPr/>
        </p:nvSpPr>
        <p:spPr>
          <a:xfrm>
            <a:off x="5577840" y="4498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080760" y="4398264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whether the data is left-skewed, right-skewed, or symmetric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40680" y="5148072"/>
            <a:ext cx="617220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5577840" y="5248656"/>
            <a:ext cx="384048" cy="384048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24" name="Text 21"/>
          <p:cNvSpPr/>
          <p:nvPr/>
        </p:nvSpPr>
        <p:spPr>
          <a:xfrm>
            <a:off x="5577840" y="5248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080760" y="5148072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the ₹180,000 salary and calculate the mean again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40680" y="5897880"/>
            <a:ext cx="617220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/>
        </p:spPr>
      </p:sp>
      <p:sp>
        <p:nvSpPr>
          <p:cNvPr id="27" name="Shape 24"/>
          <p:cNvSpPr/>
          <p:nvPr/>
        </p:nvSpPr>
        <p:spPr>
          <a:xfrm>
            <a:off x="5577840" y="5998464"/>
            <a:ext cx="384048" cy="384048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28" name="Text 25"/>
          <p:cNvSpPr/>
          <p:nvPr/>
        </p:nvSpPr>
        <p:spPr>
          <a:xfrm>
            <a:off x="5577840" y="5998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080760" y="5897880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how the outlier affects the average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Understanding Skewness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Example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Calculating mean, median, and skewness with pandas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2743200"/>
          </a:xfrm>
          <a:prstGeom prst="roundRect">
            <a:avLst>
              <a:gd name="adj" fmla="val 2667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47088"/>
            <a:ext cx="10652760" cy="2523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 = [25000,26000,27000,28000,30000,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31000,32000,34000,35000,180000]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pd.DataFrame({"Salary": salary})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print("Mean:", df["Salary"].mean())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print("Median:", df["Salary"].median())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print("Skewness:", df["Salary"].skew())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11109960" cy="1600200"/>
          </a:xfrm>
          <a:prstGeom prst="roundRect">
            <a:avLst>
              <a:gd name="adj" fmla="val 5714"/>
            </a:avLst>
          </a:prstGeom>
          <a:solidFill>
            <a:srgbClr val="F4F5F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846320"/>
            <a:ext cx="10561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5257800"/>
            <a:ext cx="3429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25780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9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Skewness &gt; 0 → Right-skewed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5257800"/>
            <a:ext cx="3429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525780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Skewness &lt; 0 → Left-skewed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5257800"/>
            <a:ext cx="3429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525780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Skewness ≈ 0 → Symmetric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Understanding Skewness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 Practice Questions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676656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594"/>
                </a:solidFill>
              </a:rPr>
              <a:t>1.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1737360"/>
            <a:ext cx="6035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measure is more affected by outliers — Mean or Median?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487168"/>
            <a:ext cx="676656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87168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594"/>
                </a:solidFill>
              </a:rPr>
              <a:t>2.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487168"/>
            <a:ext cx="6035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income data usually right-skewed?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36976"/>
            <a:ext cx="676656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3697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594"/>
                </a:solidFill>
              </a:rPr>
              <a:t>3.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236976"/>
            <a:ext cx="6035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two examples of left-skewed data.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86784"/>
            <a:ext cx="676656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98678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594"/>
                </a:solidFill>
              </a:rPr>
              <a:t>4.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986784"/>
            <a:ext cx="6035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Mean &gt; Median, what type of skewness is present?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36592"/>
            <a:ext cx="676656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73659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594"/>
                </a:solidFill>
              </a:rPr>
              <a:t>5.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4736592"/>
            <a:ext cx="6035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Mean &lt; Median, what type of skewness is present?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486400"/>
            <a:ext cx="676656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48640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594"/>
                </a:solidFill>
              </a:rPr>
              <a:t>6.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5486400"/>
            <a:ext cx="6035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companies often report median salary instead of average salary?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589520" y="1737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Identify the Skewness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589520" y="219456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219456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10, 20, 30, 40, 50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589520" y="324612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0" y="324612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5, 6, 7, 8, 100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589520" y="429768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429768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10, 80, 85, 90, 95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Understanding Skewness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4F5F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91640"/>
            <a:ext cx="91440" cy="713232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Skewness measures how asymmetric a distribution 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96312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4F5F9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96312"/>
            <a:ext cx="91440" cy="71323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96312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Symmetric: Mean = Median = Mode.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00984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4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300984"/>
            <a:ext cx="91440" cy="713232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00984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Right-skewed: Long right tail, Mean &gt; Median.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105656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4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105656"/>
            <a:ext cx="91440" cy="713232"/>
          </a:xfrm>
          <a:prstGeom prst="rect">
            <a:avLst/>
          </a:prstGeom>
          <a:solidFill>
            <a:srgbClr val="2E319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05656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Left-skewed: Long left tail, Mean &lt; Median.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910328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4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910328"/>
            <a:ext cx="91440" cy="713232"/>
          </a:xfrm>
          <a:prstGeom prst="rect">
            <a:avLst/>
          </a:prstGeom>
          <a:solidFill>
            <a:srgbClr val="E85D5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910328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 strongly affect the mean but have much less effect on the median.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715000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4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5715000"/>
            <a:ext cx="91440" cy="713232"/>
          </a:xfrm>
          <a:prstGeom prst="rect">
            <a:avLst/>
          </a:prstGeom>
          <a:solidFill>
            <a:srgbClr val="12A594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715000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Income, salary, and house prices are commonly right-skewed; easy exam scores often produce left-skewed distributions.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Understanding Skewness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2026-08-08T05:12:45Z</dcterms:created>
  <dcterms:modified xsi:type="dcterms:W3CDTF">2026-08-08T05:12:45Z</dcterms:modified>
</cp:coreProperties>
</file>