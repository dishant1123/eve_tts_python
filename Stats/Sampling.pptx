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77240" y="3108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study a whole population without asking everyone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random sampling to train-test splits in ML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Notes  ·  Statistics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0" y="914400"/>
            <a:ext cx="2011680" cy="2011680"/>
          </a:xfrm>
          <a:prstGeom prst="ellipse">
            <a:avLst/>
          </a:prstGeom>
          <a:solidFill>
            <a:srgbClr val="12A59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023360"/>
            <a:ext cx="1280160" cy="1280160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Sampling?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a smaller group to draw conclusions about the whole population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2A594"/>
                </a:solidFill>
              </a:rPr>
              <a:t>Sampling is the process of selecting a smaller group of people or items from a larger population to study and draw conclusions about the entire population.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College Example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F4F5F9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918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280"/>
                </a:solidFill>
              </a:rPr>
              <a:t>College has 5,000 students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329184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F4F5F9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32918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192"/>
                </a:solidFill>
              </a:rPr>
              <a:t>Want to know average study hours per day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329184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F4F5F9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32918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A594"/>
                </a:solidFill>
              </a:rPr>
              <a:t>Select 200 students and ask them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434840"/>
            <a:ext cx="91440" cy="6217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348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Population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443484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students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5166360"/>
            <a:ext cx="91440" cy="621792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6636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Sample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516636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selected students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897880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897880"/>
            <a:ext cx="91440" cy="621792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89788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Sampling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589788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of selecting those 200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&amp; Sample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core building blocks of every study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3192"/>
                </a:solidFill>
              </a:rPr>
              <a:t>Population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group of people, objects, or observations we're interested in studying.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74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</a:rPr>
              <a:t>Sample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smaller group selected from the population for analysis.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Practical Example: Company Departments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109960" cy="1737360"/>
        </p:xfrm>
        <a:graphic>
          <a:graphicData uri="http://schemas.openxmlformats.org/drawingml/2006/table">
            <a:tbl>
              <a:tblPr/>
              <a:tblGrid>
                <a:gridCol w="7315200"/>
                <a:gridCol w="37947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Employees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A594"/>
                          </a:solidFill>
                        </a:rPr>
                        <a:t>1,000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Use Sampling?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Studying the complete population can be...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CEAE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Expensive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03620" y="173736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CEAEA"/>
          </a:solidFill>
          <a:ln/>
        </p:spPr>
      </p:sp>
      <p:sp>
        <p:nvSpPr>
          <p:cNvPr id="7" name="Text 5"/>
          <p:cNvSpPr/>
          <p:nvPr/>
        </p:nvSpPr>
        <p:spPr>
          <a:xfrm>
            <a:off x="6286500" y="173736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Time-consuming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Difficult to manage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03620" y="251460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CEAEA"/>
          </a:solidFill>
          <a:ln/>
        </p:spPr>
      </p:sp>
      <p:sp>
        <p:nvSpPr>
          <p:cNvPr id="11" name="Text 9"/>
          <p:cNvSpPr/>
          <p:nvPr/>
        </p:nvSpPr>
        <p:spPr>
          <a:xfrm>
            <a:off x="6286500" y="251460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Sometimes impossible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Practical Example: Election Survey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F4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3192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country has 100 crore+ people. It is practically impossible to ask everyone: "Which candidate will you vote for?"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7492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select a sample from different regions and demographics, then estimate the opinion of the larger population.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Sampling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major categories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8F8F5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A594"/>
                </a:solidFill>
              </a:rPr>
              <a:t>Probability Sampling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member has a known chance of being selected.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20040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00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A594"/>
                </a:solidFill>
              </a:rPr>
              <a:t>Simple Random Sampling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822192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221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A594"/>
                </a:solidFill>
              </a:rPr>
              <a:t>Systematic Sampling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4443984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4398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A594"/>
                </a:solidFill>
              </a:rPr>
              <a:t>Stratified Sampling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5065776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0657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A594"/>
                </a:solidFill>
              </a:rPr>
              <a:t>Cluster Sampling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6E5"/>
          </a:solidFill>
          <a:ln w="16510">
            <a:solidFill>
              <a:srgbClr val="F29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994A"/>
                </a:solidFill>
              </a:rPr>
              <a:t>Non-Probability Sampling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24231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is not completely random.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320040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200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994A"/>
                </a:solidFill>
              </a:rPr>
              <a:t>Convenience Sampling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3822192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8221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994A"/>
                </a:solidFill>
              </a:rPr>
              <a:t>Judgment / Purposive Sampling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4443984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44398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994A"/>
                </a:solidFill>
              </a:rPr>
              <a:t>Quota Sampling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Random Sampling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member has an equal chance of being selected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10 Students → Randomly Select 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868680" cy="594360"/>
          </a:xfrm>
          <a:prstGeom prst="ellipse">
            <a:avLst/>
          </a:prstGeom>
          <a:solidFill>
            <a:srgbClr val="F4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27632" y="2194560"/>
            <a:ext cx="868680" cy="59436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8" name="Text 6"/>
          <p:cNvSpPr/>
          <p:nvPr/>
        </p:nvSpPr>
        <p:spPr>
          <a:xfrm>
            <a:off x="1627632" y="21945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06624" y="2194560"/>
            <a:ext cx="868680" cy="594360"/>
          </a:xfrm>
          <a:prstGeom prst="ellipse">
            <a:avLst/>
          </a:prstGeom>
          <a:solidFill>
            <a:srgbClr val="F4F5F9"/>
          </a:solidFill>
          <a:ln/>
        </p:spPr>
      </p:sp>
      <p:sp>
        <p:nvSpPr>
          <p:cNvPr id="10" name="Text 8"/>
          <p:cNvSpPr/>
          <p:nvPr/>
        </p:nvSpPr>
        <p:spPr>
          <a:xfrm>
            <a:off x="2706624" y="21945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85616" y="2194560"/>
            <a:ext cx="868680" cy="594360"/>
          </a:xfrm>
          <a:prstGeom prst="ellipse">
            <a:avLst/>
          </a:prstGeom>
          <a:solidFill>
            <a:srgbClr val="F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3785616" y="21945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64608" y="2194560"/>
            <a:ext cx="868680" cy="59436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21945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868680" cy="594360"/>
          </a:xfrm>
          <a:prstGeom prst="ellipse">
            <a:avLst/>
          </a:prstGeom>
          <a:solidFill>
            <a:srgbClr val="F4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803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27632" y="2880360"/>
            <a:ext cx="868680" cy="59436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8" name="Text 16"/>
          <p:cNvSpPr/>
          <p:nvPr/>
        </p:nvSpPr>
        <p:spPr>
          <a:xfrm>
            <a:off x="1627632" y="28803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06624" y="2880360"/>
            <a:ext cx="868680" cy="594360"/>
          </a:xfrm>
          <a:prstGeom prst="ellipse">
            <a:avLst/>
          </a:prstGeom>
          <a:solidFill>
            <a:srgbClr val="F4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2706624" y="28803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85616" y="2880360"/>
            <a:ext cx="868680" cy="59436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2" name="Text 20"/>
          <p:cNvSpPr/>
          <p:nvPr/>
        </p:nvSpPr>
        <p:spPr>
          <a:xfrm>
            <a:off x="3785616" y="28803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64608" y="2880360"/>
            <a:ext cx="868680" cy="594360"/>
          </a:xfrm>
          <a:prstGeom prst="ellipse">
            <a:avLst/>
          </a:prstGeom>
          <a:solidFill>
            <a:srgbClr val="F4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28803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2A594"/>
                </a:solidFill>
              </a:rPr>
              <a:t>Selected sample: 2, 5, 7, 9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</a:rPr>
              <a:t>Every student has a chance of being selected.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E1E2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773168"/>
            <a:ext cx="4937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["Amit","Rahul","Priya",...]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random.sample(students, 4)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print(sample)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173736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F4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Key Idea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random sampling, every member of the population has an equal chance of being selected — no bias toward any group.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675120" y="384048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E8F8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38404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homogeneous populations where every member is equally accessible.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Sampling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population is divided into groups (strata); samples come from each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858000" cy="429768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Population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Sample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2A594"/>
                          </a:solidFill>
                        </a:rPr>
                        <a:t>30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250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2A594"/>
                          </a:solidFill>
                        </a:rPr>
                        <a:t>25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2A594"/>
                          </a:solidFill>
                        </a:rPr>
                        <a:t>10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150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2A594"/>
                          </a:solidFill>
                        </a:rPr>
                        <a:t>15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2A594"/>
                          </a:solidFill>
                        </a:rPr>
                        <a:t>20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</a:rPr>
                        <a:t>1,000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2A594"/>
                          </a:solidFill>
                        </a:rPr>
                        <a:t>100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23360" cy="4297680"/>
          </a:xfrm>
          <a:prstGeom prst="roundRect">
            <a:avLst>
              <a:gd name="adj" fmla="val 2273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Why Stratify?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randomly picking 100 from the whole company, we sample proportionally from each department.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18120" y="3931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393192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gives representation to every department.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Sampling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every nth member from the population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3B"/>
                </a:solidFill>
              </a:rPr>
              <a:t>1,000 customers, need a sample of 100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 interval = 1,000 / 100 = 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</a:rPr>
              <a:t>Select every 10th customer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EEF0F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192"/>
                </a:solidFill>
              </a:rPr>
              <a:t>Selected Customers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237744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192"/>
                </a:solidFill>
              </a:rPr>
              <a:t>Customer 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944368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9443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192"/>
                </a:solidFill>
              </a:rPr>
              <a:t>Customer 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3511296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5112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192"/>
                </a:solidFill>
              </a:rPr>
              <a:t>Customer 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4078224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192"/>
                </a:solidFill>
              </a:rPr>
              <a:t>Customer 40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4645152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6451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192"/>
                </a:solidFill>
              </a:rPr>
              <a:t>...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521208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5212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192"/>
                </a:solidFill>
              </a:rPr>
              <a:t>Customer 1000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2A594"/>
                </a:solidFill>
              </a:rPr>
              <a:t>This is systematic sampling.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Sampling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the population into clusters, then select entire clusters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566160" y="182880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651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1828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500 Schools in Ahmedabad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06440" y="2633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66160" y="283464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6510">
            <a:solidFill>
              <a:srgbClr val="F299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834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</a:rPr>
              <a:t>Randomly select 20 schools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363931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66160" y="384048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Survey students from those schools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109960" cy="1280160"/>
          </a:xfrm>
          <a:prstGeom prst="roundRect">
            <a:avLst>
              <a:gd name="adj" fmla="val 7143"/>
            </a:avLst>
          </a:prstGeom>
          <a:solidFill>
            <a:srgbClr val="F4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92040"/>
            <a:ext cx="10561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schools are the clusters — each cluster is a mini-population sampled entirely.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Convenience Sampling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people who are easily available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61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2994A"/>
                </a:solidFill>
              </a:rPr>
              <a:t>"How satisfied are college students with online learning?"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91840"/>
            <a:ext cx="10561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outside your college and ask the first 50 students you meet.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11109960" cy="1280160"/>
          </a:xfrm>
          <a:prstGeom prst="roundRect">
            <a:avLst>
              <a:gd name="adj" fmla="val 7143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63440"/>
            <a:ext cx="10561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do — but it may not represent all college students.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Bias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selected sample doesn't properly represent the population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CEA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company has 1,000 employees. You want to know: "Are employees satisfied?" — but you survey only 50 employees from HR.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5D"/>
                </a:solidFill>
              </a:rPr>
              <a:t>The result may not represent: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206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5D5D"/>
                </a:solidFill>
              </a:rPr>
              <a:t>Sales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420624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4206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5D5D"/>
                </a:solidFill>
              </a:rPr>
              <a:t>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4206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5D5D"/>
                </a:solidFill>
              </a:rPr>
              <a:t>Finance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09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5D5D"/>
                </a:solidFill>
              </a:rPr>
              <a:t>Marketing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23160" y="470916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4709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5D5D"/>
                </a:solidFill>
              </a:rPr>
              <a:t>Operations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Better Approach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24688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employees from different departments — proportionally, as in stratified sampling — so no single group dominates the result.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Survey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Satisfaction Survey — population of 10,000, sample of 10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943600" cy="4754880"/>
        </p:xfrm>
        <a:graphic>
          <a:graphicData uri="http://schemas.openxmlformats.org/drawingml/2006/table">
            <a:tbl>
              <a:tblPr/>
              <a:tblGrid>
                <a:gridCol w="1485900"/>
                <a:gridCol w="1485900"/>
                <a:gridCol w="1485900"/>
                <a:gridCol w="14859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Study Hrs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Satisfaction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737360"/>
            <a:ext cx="4892040" cy="182880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0" y="1737360"/>
            <a:ext cx="4434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= 10,000 students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= 10 students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720840" y="379476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3904488"/>
            <a:ext cx="443484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 = [8,7,6,9,7,8,5,9,8,7]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= sum(satisfaction)/len(satisfaction)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print("Average:", average)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20840" y="5394960"/>
            <a:ext cx="4892040" cy="640080"/>
          </a:xfrm>
          <a:prstGeom prst="roundRect">
            <a:avLst>
              <a:gd name="adj" fmla="val 11429"/>
            </a:avLst>
          </a:prstGeom>
          <a:solidFill>
            <a:srgbClr val="E8F8F5"/>
          </a:solidFill>
          <a:ln/>
        </p:spPr>
      </p:sp>
      <p:sp>
        <p:nvSpPr>
          <p:cNvPr id="10" name="Text 7"/>
          <p:cNvSpPr/>
          <p:nvPr/>
        </p:nvSpPr>
        <p:spPr>
          <a:xfrm>
            <a:off x="6720840" y="53949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Output: Average Satisfaction = 7.4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in Machine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data into training and testing samples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100,000 customer records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3840480" cy="50292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606040"/>
            <a:ext cx="960120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(80,000)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60604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(20K)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learns patterns from the training sample and is evaluated on data it never saw.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544568"/>
            <a:ext cx="493776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\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train_test_split(X, y, test_size=0.20,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80 / 20 Split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242316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→ Training data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→ Testing data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trains on the training sample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is evaluated on unseen test 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470916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4818888"/>
            <a:ext cx="4114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print("Train:", len(X_train))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print("Test:", len(X_test))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Random Sampling Matters in ML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class distribution consistent across train and test 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Imbalanced Dataset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206240" cy="45720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90% Non-Churn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466344" cy="457200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9260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5D5D"/>
                </a:solidFill>
              </a:rPr>
              <a:t>10%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D5D"/>
                </a:solidFill>
              </a:rPr>
              <a:t>Churn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training and testing sets should ideally maintain a similar class distribution.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847088"/>
            <a:ext cx="4846320" cy="2066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\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train_test_split(X, y,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test_size=0.20,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stratify=y)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109960" cy="1691640"/>
          </a:xfrm>
          <a:prstGeom prst="roundRect">
            <a:avLst>
              <a:gd name="adj" fmla="val 5405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89120"/>
            <a:ext cx="1056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stratify=y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892040"/>
            <a:ext cx="10012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maintain the same class distribution between the training and testing sets — critical for classification problems with imbalanced classes.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91440" cy="713232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lets us study a population without surveying every single member.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96312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96312"/>
            <a:ext cx="91440" cy="713232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sampling (random, systematic, stratified, cluster) gives every member a known chance of selection.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300984"/>
            <a:ext cx="91440" cy="713232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00984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Non-probability sampling (convenience, judgment, quota) is easier but risks bias.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05656"/>
            <a:ext cx="91440" cy="713232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05656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sampling ensures every subgroup is proportionally represented.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910328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910328"/>
            <a:ext cx="91440" cy="713232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10328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bias happens when the sample doesn't reflect the population — always check who's missing.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71500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715000"/>
            <a:ext cx="91440" cy="71323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71500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ML, train-test splits are sampling too — use stratify=y to preserve class balance.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2026-08-18T10:35:12Z</dcterms:created>
  <dcterms:modified xsi:type="dcterms:W3CDTF">2026-08-18T10:35:12Z</dcterms:modified>
</cp:coreProperties>
</file>