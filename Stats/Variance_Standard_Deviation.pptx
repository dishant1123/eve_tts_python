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Deviation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how spread out your data really 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Notes  ·  Statistics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875520" y="914400"/>
            <a:ext cx="2011680" cy="2011680"/>
          </a:xfrm>
          <a:prstGeom prst="ellipse">
            <a:avLst/>
          </a:prstGeom>
          <a:solidFill>
            <a:srgbClr val="12A594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023360"/>
            <a:ext cx="1280160" cy="1280160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Variance?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data values are spread from the mean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914400"/>
          </a:xfrm>
          <a:prstGeom prst="roundRect">
            <a:avLst>
              <a:gd name="adj" fmla="val 10000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2A594"/>
                </a:solidFill>
              </a:rPr>
              <a:t>Variance tells us how much the data is spread around the average value.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108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Small Variance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417320" y="4572000"/>
            <a:ext cx="3657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4507992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Shape 8"/>
          <p:cNvSpPr/>
          <p:nvPr/>
        </p:nvSpPr>
        <p:spPr>
          <a:xfrm>
            <a:off x="3593592" y="4507992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1" name="Shape 9"/>
          <p:cNvSpPr/>
          <p:nvPr/>
        </p:nvSpPr>
        <p:spPr>
          <a:xfrm>
            <a:off x="2907792" y="4507992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9272" y="4507992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4952" y="4507992"/>
            <a:ext cx="128016" cy="128016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29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are close to the mean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2926080"/>
            <a:ext cx="5303520" cy="3017520"/>
          </a:xfrm>
          <a:prstGeom prst="roundRect">
            <a:avLst>
              <a:gd name="adj" fmla="val 3030"/>
            </a:avLst>
          </a:prstGeom>
          <a:solidFill>
            <a:srgbClr val="F4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1089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5D"/>
                </a:solidFill>
              </a:rPr>
              <a:t>Large Variance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4572000"/>
            <a:ext cx="3657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7112" y="4507992"/>
            <a:ext cx="128016" cy="12801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51592" y="4507992"/>
            <a:ext cx="128016" cy="12801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0" name="Shape 18"/>
          <p:cNvSpPr/>
          <p:nvPr/>
        </p:nvSpPr>
        <p:spPr>
          <a:xfrm>
            <a:off x="7616952" y="4507992"/>
            <a:ext cx="128016" cy="12801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1" name="Shape 19"/>
          <p:cNvSpPr/>
          <p:nvPr/>
        </p:nvSpPr>
        <p:spPr>
          <a:xfrm>
            <a:off x="9628632" y="4507992"/>
            <a:ext cx="128016" cy="12801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1192" y="4507992"/>
            <a:ext cx="128016" cy="128016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50292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points are far from the mean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Variance?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classes, same average — very different stories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A594"/>
                </a:solidFill>
              </a:rPr>
              <a:t>Class 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78, 79, 80, 81, 82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Average = 80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17320" y="4023360"/>
            <a:ext cx="35661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456" y="3968496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Shape 8"/>
          <p:cNvSpPr/>
          <p:nvPr/>
        </p:nvSpPr>
        <p:spPr>
          <a:xfrm>
            <a:off x="2253996" y="3968496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1" name="Shape 9"/>
          <p:cNvSpPr/>
          <p:nvPr/>
        </p:nvSpPr>
        <p:spPr>
          <a:xfrm>
            <a:off x="3145536" y="3968496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2" name="Shape 10"/>
          <p:cNvSpPr/>
          <p:nvPr/>
        </p:nvSpPr>
        <p:spPr>
          <a:xfrm>
            <a:off x="4037076" y="3968496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3" name="Shape 11"/>
          <p:cNvSpPr/>
          <p:nvPr/>
        </p:nvSpPr>
        <p:spPr>
          <a:xfrm>
            <a:off x="4928616" y="3968496"/>
            <a:ext cx="109728" cy="10972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2A594"/>
                </a:solidFill>
              </a:rPr>
              <a:t>Tightly clustered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173736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CEAEA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5D5D"/>
                </a:solidFill>
              </a:rPr>
              <a:t>Class B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40, 60, 80, 100, 120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3063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Average = 80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78040" y="4023360"/>
            <a:ext cx="356616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968496"/>
            <a:ext cx="109728" cy="109728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4716" y="3968496"/>
            <a:ext cx="109728" cy="109728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2" name="Shape 20"/>
          <p:cNvSpPr/>
          <p:nvPr/>
        </p:nvSpPr>
        <p:spPr>
          <a:xfrm>
            <a:off x="8906256" y="3968496"/>
            <a:ext cx="109728" cy="109728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3" name="Shape 21"/>
          <p:cNvSpPr/>
          <p:nvPr/>
        </p:nvSpPr>
        <p:spPr>
          <a:xfrm>
            <a:off x="9797796" y="3968496"/>
            <a:ext cx="109728" cy="109728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9336" y="3968496"/>
            <a:ext cx="109728" cy="109728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206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5D5D"/>
                </a:solidFill>
              </a:rPr>
              <a:t>Widely spread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4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892040"/>
            <a:ext cx="10561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classes have the same average, but Class B has much more variation. Variance helps us identify this difference.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 of Variance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variance vs sample variance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3192"/>
                </a:solidFill>
              </a:rPr>
              <a:t>Population Variance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σ² = Σ(x − μ)² / 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value    μ = population mean    N = observations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A594"/>
                </a:solidFill>
              </a:rPr>
              <a:t>Sample Variance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4231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s² = Σ(x − x̄)² / (n − 1)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92240" y="32918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x̄ = sample mean    n = sample 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109960" cy="1508760"/>
          </a:xfrm>
          <a:prstGeom prst="roundRect">
            <a:avLst>
              <a:gd name="adj" fmla="val 6061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34840"/>
            <a:ext cx="10469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i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Data Science and Machine Learning, we usually work with sample data — so the sample variance formula (dividing by n − 1) is the one commonly used.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10, 12, 14, 16, 18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Calculate Mean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(10+12+14+16+18)/5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70 /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52044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E8F8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204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Mean = 14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Step 2 &amp; 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Deviations &amp; Squares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2606040"/>
          <a:ext cx="2148840" cy="219456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x−Mean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Sq.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-2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520440" y="4937760"/>
            <a:ext cx="2148840" cy="548640"/>
          </a:xfrm>
          <a:prstGeom prst="roundRect">
            <a:avLst>
              <a:gd name="adj" fmla="val 13333"/>
            </a:avLst>
          </a:prstGeom>
          <a:solidFill>
            <a:srgbClr val="FFF6E5"/>
          </a:solidFill>
          <a:ln/>
        </p:spPr>
      </p:sp>
      <p:sp>
        <p:nvSpPr>
          <p:cNvPr id="16" name="Text 13"/>
          <p:cNvSpPr/>
          <p:nvPr/>
        </p:nvSpPr>
        <p:spPr>
          <a:xfrm>
            <a:off x="3520440" y="4937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</a:rPr>
              <a:t>Total = 40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169164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4F5F9"/>
          </a:solidFill>
          <a:ln/>
        </p:spPr>
      </p:sp>
      <p:sp>
        <p:nvSpPr>
          <p:cNvPr id="18" name="Text 15"/>
          <p:cNvSpPr/>
          <p:nvPr/>
        </p:nvSpPr>
        <p:spPr>
          <a:xfrm>
            <a:off x="6035040" y="182880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92"/>
                </a:solidFill>
              </a:rPr>
              <a:t>Step 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0" y="2148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</a:rPr>
              <a:t>Population Variance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2834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5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263640" y="35661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0FA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63640" y="356616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3192"/>
                </a:solidFill>
              </a:rPr>
              <a:t>= 8</a:t>
            </a:r>
            <a:endParaRPr lang="en-US" sz="2600" dirty="0"/>
          </a:p>
        </p:txBody>
      </p:sp>
      <p:sp>
        <p:nvSpPr>
          <p:cNvPr id="23" name="Shape 20"/>
          <p:cNvSpPr/>
          <p:nvPr/>
        </p:nvSpPr>
        <p:spPr>
          <a:xfrm>
            <a:off x="8778240" y="2606040"/>
            <a:ext cx="2834640" cy="3566160"/>
          </a:xfrm>
          <a:prstGeom prst="roundRect">
            <a:avLst>
              <a:gd name="adj" fmla="val 322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0" y="27889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Result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915400" y="3931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915400" y="4389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8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Spread of Data Matters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companies, similar averages, very different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834640"/>
          </a:xfrm>
          <a:prstGeom prst="roundRect">
            <a:avLst>
              <a:gd name="adj" fmla="val 3226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Company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₹30,000  ₹31,000  ₹32,000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₹33,000  ₹34,000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34290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429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Average = ₹32,000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2A594"/>
                </a:solidFill>
              </a:rPr>
              <a:t>Tight, consistent salaries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303520" cy="2834640"/>
          </a:xfrm>
          <a:prstGeom prst="roundRect">
            <a:avLst>
              <a:gd name="adj" fmla="val 3226"/>
            </a:avLst>
          </a:prstGeom>
          <a:solidFill>
            <a:srgbClr val="FCEAE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5D"/>
                </a:solidFill>
              </a:rPr>
              <a:t>Company 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24231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₹10,000  ₹20,000  ₹32,000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₹50,000  ₹70,000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78040" y="34290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34290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D5D"/>
                </a:solidFill>
              </a:rPr>
              <a:t>Average = ₹36,400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206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5D5D"/>
                </a:solidFill>
              </a:rPr>
              <a:t>Widely spread salaries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800600"/>
            <a:ext cx="10469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Although the averages are similar, Company B has a much larger spread. Statistics uses variance to measure this difference.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Importance of Spread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companies use variance in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9601200" cy="713232"/>
          </a:xfrm>
          <a:prstGeom prst="roundRect">
            <a:avLst>
              <a:gd name="adj" fmla="val 12821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048256"/>
            <a:ext cx="457200" cy="457200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48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94560" y="1920240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Inconsistent Performance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2779776"/>
            <a:ext cx="9601200" cy="713232"/>
          </a:xfrm>
          <a:prstGeom prst="roundRect">
            <a:avLst>
              <a:gd name="adj" fmla="val 12821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2907792"/>
            <a:ext cx="457200" cy="457200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907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94560" y="2779776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Customer Spending Patterns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80160" y="3639312"/>
            <a:ext cx="9601200" cy="713232"/>
          </a:xfrm>
          <a:prstGeom prst="roundRect">
            <a:avLst>
              <a:gd name="adj" fmla="val 12821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1463040" y="37673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767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3639312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Financial Risk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80160" y="4498848"/>
            <a:ext cx="9601200" cy="713232"/>
          </a:xfrm>
          <a:prstGeom prst="roundRect">
            <a:avLst>
              <a:gd name="adj" fmla="val 12821"/>
            </a:avLst>
          </a:prstGeom>
          <a:solidFill>
            <a:srgbClr val="F4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1463040" y="4626864"/>
            <a:ext cx="457200" cy="457200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4626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94560" y="4498848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Employee Performance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0160" y="5358384"/>
            <a:ext cx="9601200" cy="713232"/>
          </a:xfrm>
          <a:prstGeom prst="roundRect">
            <a:avLst>
              <a:gd name="adj" fmla="val 12821"/>
            </a:avLst>
          </a:prstGeom>
          <a:solidFill>
            <a:srgbClr val="F4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1463040" y="5486400"/>
            <a:ext cx="457200" cy="45720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94560" y="5358384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Unusual Values (Outliers)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Standard Deviation?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square root of variance — spread measured in the original unit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2A594"/>
                </a:solidFill>
              </a:rPr>
              <a:t>Standard Deviation tells us how far the data points are from the average.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71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Formula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√Variance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309360" y="283464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EEF0F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971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Example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33832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 = 8  →  √8 = 2.83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7091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μ (mean)  ±σ (one standard deviation)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87368" y="5532120"/>
            <a:ext cx="402336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14216" y="5458968"/>
            <a:ext cx="146304" cy="146304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6" name="Text 14"/>
          <p:cNvSpPr/>
          <p:nvPr/>
        </p:nvSpPr>
        <p:spPr>
          <a:xfrm>
            <a:off x="3721608" y="5669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92"/>
                </a:solidFill>
              </a:rPr>
              <a:t>-σ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25896" y="5458968"/>
            <a:ext cx="146304" cy="146304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8" name="Text 16"/>
          <p:cNvSpPr/>
          <p:nvPr/>
        </p:nvSpPr>
        <p:spPr>
          <a:xfrm>
            <a:off x="5733288" y="5669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37576" y="5458968"/>
            <a:ext cx="146304" cy="146304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20" name="Text 18"/>
          <p:cNvSpPr/>
          <p:nvPr/>
        </p:nvSpPr>
        <p:spPr>
          <a:xfrm>
            <a:off x="7744968" y="5669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92"/>
                </a:solidFill>
              </a:rPr>
              <a:t>+σ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Standard Deviation Is Better Than Variance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Variance's units are squared — SD returns to the original unit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92024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FCEAEA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5D5D"/>
                </a:solidFill>
              </a:rPr>
              <a:t>Variance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D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64,000,000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801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5D5D"/>
                </a:solidFill>
              </a:rPr>
              <a:t>Unit: rupees²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5D"/>
                </a:solidFill>
              </a:rPr>
              <a:t>Difficult to interpret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89320" y="32004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280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537960" y="1920240"/>
            <a:ext cx="4572000" cy="3291840"/>
          </a:xfrm>
          <a:prstGeom prst="roundRect">
            <a:avLst>
              <a:gd name="adj" fmla="val 2778"/>
            </a:avLst>
          </a:prstGeom>
          <a:solidFill>
            <a:srgbClr val="E8F8F5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Standard Deviation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₹8,000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53796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2A594"/>
                </a:solidFill>
              </a:rPr>
              <a:t>Unit: rupees (original)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4480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Much easier to understand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vs High Standard Deviation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E8F8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A594"/>
                </a:solidFill>
              </a:rPr>
              <a:t>Low Standard Deviation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Marks: 78, 80, 81, 79, 82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</a:rPr>
              <a:t>Average = 80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performed consistently.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CEAE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5D5D"/>
                </a:solidFill>
              </a:rPr>
              <a:t>High Standard Deviation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2331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Marks: 30, 50, 80, 95, 145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</a:rPr>
              <a:t>Average = 80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is highly inconsistent.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4617720"/>
          <a:ext cx="9601200" cy="1965960"/>
        </p:xfrm>
        <a:graphic>
          <a:graphicData uri="http://schemas.openxmlformats.org/drawingml/2006/table">
            <a:tbl>
              <a:tblPr/>
              <a:tblGrid>
                <a:gridCol w="4800600"/>
                <a:gridCol w="4800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Low SD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High SD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Values close to mean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Values far from mean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Less variation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More variation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More consistent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Less consistent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Lower risk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Higher risk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Student Marks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classes, same average, very different consistency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A594"/>
                </a:solidFill>
              </a:rPr>
              <a:t>Class A</a:t>
            </a:r>
            <a:endParaRPr lang="en-US" sz="1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423160"/>
          <a:ext cx="3749040" cy="201168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79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617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3B"/>
                </a:solidFill>
              </a:rPr>
              <a:t>Average = 80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3B"/>
                </a:solidFill>
              </a:rPr>
              <a:t>Standard Deviation ≈ 1.41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2A594"/>
                </a:solidFill>
              </a:rPr>
              <a:t>Marks are very consistent.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FCEAEA"/>
          </a:solidFill>
          <a:ln/>
        </p:spPr>
      </p:sp>
      <p:sp>
        <p:nvSpPr>
          <p:cNvPr id="10" name="Text 7"/>
          <p:cNvSpPr/>
          <p:nvPr/>
        </p:nvSpPr>
        <p:spPr>
          <a:xfrm>
            <a:off x="630936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5D5D"/>
                </a:solidFill>
              </a:rPr>
              <a:t>Class B</a:t>
            </a:r>
            <a:endParaRPr lang="en-US" sz="1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2423160"/>
          <a:ext cx="3749040" cy="201168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Student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5D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583680" y="46177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3B"/>
                </a:solidFill>
              </a:rPr>
              <a:t>Average = 80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B1F3B"/>
                </a:solidFill>
              </a:rPr>
              <a:t>Standard Deviation ≈ 28.28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0" y="5349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5D5D"/>
                </a:solidFill>
              </a:rPr>
              <a:t>Students have very different performance levels.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Variance &amp; Standard Deviation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2026-08-04T09:25:06Z</dcterms:created>
  <dcterms:modified xsi:type="dcterms:W3CDTF">2026-08-04T09:25:06Z</dcterms:modified>
</cp:coreProperties>
</file>